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4" r:id="rId1"/>
  </p:sldMasterIdLst>
  <p:notesMasterIdLst>
    <p:notesMasterId r:id="rId25"/>
  </p:notesMasterIdLst>
  <p:sldIdLst>
    <p:sldId id="256" r:id="rId2"/>
    <p:sldId id="257"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9" r:id="rId22"/>
    <p:sldId id="277" r:id="rId23"/>
    <p:sldId id="27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A22E76-1C7B-49B6-A026-89A208766BEC}" type="datetimeFigureOut">
              <a:rPr lang="en-US" smtClean="0"/>
              <a:t>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06D414-F287-47D9-9524-664AF4F763AB}" type="slidenum">
              <a:rPr lang="en-US" smtClean="0"/>
              <a:t>‹#›</a:t>
            </a:fld>
            <a:endParaRPr lang="en-US"/>
          </a:p>
        </p:txBody>
      </p:sp>
    </p:spTree>
    <p:extLst>
      <p:ext uri="{BB962C8B-B14F-4D97-AF65-F5344CB8AC3E}">
        <p14:creationId xmlns:p14="http://schemas.microsoft.com/office/powerpoint/2010/main" val="4008726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a:t>
            </a:r>
          </a:p>
        </p:txBody>
      </p:sp>
      <p:sp>
        <p:nvSpPr>
          <p:cNvPr id="4" name="Slide Number Placeholder 3"/>
          <p:cNvSpPr>
            <a:spLocks noGrp="1"/>
          </p:cNvSpPr>
          <p:nvPr>
            <p:ph type="sldNum" sz="quarter" idx="5"/>
          </p:nvPr>
        </p:nvSpPr>
        <p:spPr/>
        <p:txBody>
          <a:bodyPr/>
          <a:lstStyle/>
          <a:p>
            <a:fld id="{6306D414-F287-47D9-9524-664AF4F763AB}" type="slidenum">
              <a:rPr lang="en-US" smtClean="0"/>
              <a:t>4</a:t>
            </a:fld>
            <a:endParaRPr lang="en-US"/>
          </a:p>
        </p:txBody>
      </p:sp>
    </p:spTree>
    <p:extLst>
      <p:ext uri="{BB962C8B-B14F-4D97-AF65-F5344CB8AC3E}">
        <p14:creationId xmlns:p14="http://schemas.microsoft.com/office/powerpoint/2010/main" val="5978461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objectives</a:t>
            </a:r>
          </a:p>
          <a:p>
            <a:endParaRPr lang="en-US" dirty="0"/>
          </a:p>
        </p:txBody>
      </p:sp>
      <p:sp>
        <p:nvSpPr>
          <p:cNvPr id="4" name="Slide Number Placeholder 3"/>
          <p:cNvSpPr>
            <a:spLocks noGrp="1"/>
          </p:cNvSpPr>
          <p:nvPr>
            <p:ph type="sldNum" sz="quarter" idx="5"/>
          </p:nvPr>
        </p:nvSpPr>
        <p:spPr/>
        <p:txBody>
          <a:bodyPr/>
          <a:lstStyle/>
          <a:p>
            <a:fld id="{6306D414-F287-47D9-9524-664AF4F763AB}" type="slidenum">
              <a:rPr lang="en-US" smtClean="0"/>
              <a:t>5</a:t>
            </a:fld>
            <a:endParaRPr lang="en-US"/>
          </a:p>
        </p:txBody>
      </p:sp>
    </p:spTree>
    <p:extLst>
      <p:ext uri="{BB962C8B-B14F-4D97-AF65-F5344CB8AC3E}">
        <p14:creationId xmlns:p14="http://schemas.microsoft.com/office/powerpoint/2010/main" val="33934717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E2041248-3A39-4E12-9E62-DEE22AB4EED7}" type="datetimeFigureOut">
              <a:rPr lang="en-US" smtClean="0"/>
              <a:t>2/5/2026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639EF70B-B994-41D6-A36C-7AA76BCA72E1}" type="slidenum">
              <a:rPr lang="en-US" smtClean="0"/>
              <a:t>‹#›</a:t>
            </a:fld>
            <a:endParaRPr lang="en-US"/>
          </a:p>
        </p:txBody>
      </p:sp>
    </p:spTree>
    <p:extLst>
      <p:ext uri="{BB962C8B-B14F-4D97-AF65-F5344CB8AC3E}">
        <p14:creationId xmlns:p14="http://schemas.microsoft.com/office/powerpoint/2010/main" val="24080465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2041248-3A39-4E12-9E62-DEE22AB4EED7}" type="datetimeFigureOut">
              <a:rPr lang="en-US" smtClean="0"/>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9EF70B-B994-41D6-A36C-7AA76BCA72E1}" type="slidenum">
              <a:rPr lang="en-US" smtClean="0"/>
              <a:t>‹#›</a:t>
            </a:fld>
            <a:endParaRPr lang="en-US"/>
          </a:p>
        </p:txBody>
      </p:sp>
    </p:spTree>
    <p:extLst>
      <p:ext uri="{BB962C8B-B14F-4D97-AF65-F5344CB8AC3E}">
        <p14:creationId xmlns:p14="http://schemas.microsoft.com/office/powerpoint/2010/main" val="1204771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2041248-3A39-4E12-9E62-DEE22AB4EED7}" type="datetimeFigureOut">
              <a:rPr lang="en-US" smtClean="0"/>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9EF70B-B994-41D6-A36C-7AA76BCA72E1}" type="slidenum">
              <a:rPr lang="en-US" smtClean="0"/>
              <a:t>‹#›</a:t>
            </a:fld>
            <a:endParaRPr lang="en-US"/>
          </a:p>
        </p:txBody>
      </p:sp>
    </p:spTree>
    <p:extLst>
      <p:ext uri="{BB962C8B-B14F-4D97-AF65-F5344CB8AC3E}">
        <p14:creationId xmlns:p14="http://schemas.microsoft.com/office/powerpoint/2010/main" val="3275614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2041248-3A39-4E12-9E62-DEE22AB4EED7}" type="datetimeFigureOut">
              <a:rPr lang="en-US" smtClean="0"/>
              <a:t>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39EF70B-B994-41D6-A36C-7AA76BCA72E1}" type="slidenum">
              <a:rPr lang="en-US" smtClean="0"/>
              <a:t>‹#›</a:t>
            </a:fld>
            <a:endParaRPr lang="en-US"/>
          </a:p>
        </p:txBody>
      </p:sp>
    </p:spTree>
    <p:extLst>
      <p:ext uri="{BB962C8B-B14F-4D97-AF65-F5344CB8AC3E}">
        <p14:creationId xmlns:p14="http://schemas.microsoft.com/office/powerpoint/2010/main" val="3106645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2041248-3A39-4E12-9E62-DEE22AB4EED7}" type="datetimeFigureOut">
              <a:rPr lang="en-US" smtClean="0"/>
              <a:t>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39EF70B-B994-41D6-A36C-7AA76BCA72E1}" type="slidenum">
              <a:rPr lang="en-US" smtClean="0"/>
              <a:t>‹#›</a:t>
            </a:fld>
            <a:endParaRPr lang="en-US"/>
          </a:p>
        </p:txBody>
      </p:sp>
    </p:spTree>
    <p:extLst>
      <p:ext uri="{BB962C8B-B14F-4D97-AF65-F5344CB8AC3E}">
        <p14:creationId xmlns:p14="http://schemas.microsoft.com/office/powerpoint/2010/main" val="37557995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2041248-3A39-4E12-9E62-DEE22AB4EED7}" type="datetimeFigureOut">
              <a:rPr lang="en-US" smtClean="0"/>
              <a:t>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39EF70B-B994-41D6-A36C-7AA76BCA72E1}" type="slidenum">
              <a:rPr lang="en-US" smtClean="0"/>
              <a:t>‹#›</a:t>
            </a:fld>
            <a:endParaRPr lang="en-US"/>
          </a:p>
        </p:txBody>
      </p:sp>
    </p:spTree>
    <p:extLst>
      <p:ext uri="{BB962C8B-B14F-4D97-AF65-F5344CB8AC3E}">
        <p14:creationId xmlns:p14="http://schemas.microsoft.com/office/powerpoint/2010/main" val="42040746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2041248-3A39-4E12-9E62-DEE22AB4EED7}" type="datetimeFigureOut">
              <a:rPr lang="en-US" smtClean="0"/>
              <a:t>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39EF70B-B994-41D6-A36C-7AA76BCA72E1}" type="slidenum">
              <a:rPr lang="en-US" smtClean="0"/>
              <a:t>‹#›</a:t>
            </a:fld>
            <a:endParaRPr lang="en-US"/>
          </a:p>
        </p:txBody>
      </p:sp>
    </p:spTree>
    <p:extLst>
      <p:ext uri="{BB962C8B-B14F-4D97-AF65-F5344CB8AC3E}">
        <p14:creationId xmlns:p14="http://schemas.microsoft.com/office/powerpoint/2010/main" val="10492142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en-US"/>
              <a:t>Click to edit Master text styles</a:t>
            </a:r>
          </a:p>
        </p:txBody>
      </p:sp>
      <p:sp>
        <p:nvSpPr>
          <p:cNvPr id="5" name="Date Placeholder 4"/>
          <p:cNvSpPr>
            <a:spLocks noGrp="1"/>
          </p:cNvSpPr>
          <p:nvPr>
            <p:ph type="dt" sz="half" idx="10"/>
          </p:nvPr>
        </p:nvSpPr>
        <p:spPr/>
        <p:txBody>
          <a:bodyPr/>
          <a:lstStyle/>
          <a:p>
            <a:fld id="{E2041248-3A39-4E12-9E62-DEE22AB4EED7}" type="datetimeFigureOut">
              <a:rPr lang="en-US" smtClean="0"/>
              <a:t>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639EF70B-B994-41D6-A36C-7AA76BCA72E1}" type="slidenum">
              <a:rPr lang="en-US" smtClean="0"/>
              <a:t>‹#›</a:t>
            </a:fld>
            <a:endParaRPr lang="en-US"/>
          </a:p>
        </p:txBody>
      </p:sp>
    </p:spTree>
    <p:extLst>
      <p:ext uri="{BB962C8B-B14F-4D97-AF65-F5344CB8AC3E}">
        <p14:creationId xmlns:p14="http://schemas.microsoft.com/office/powerpoint/2010/main" val="8259363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E2041248-3A39-4E12-9E62-DEE22AB4EED7}" type="datetimeFigureOut">
              <a:rPr lang="en-US" smtClean="0"/>
              <a:t>2/5/2026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en-US" dirty="0"/>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639EF70B-B994-41D6-A36C-7AA76BCA72E1}" type="slidenum">
              <a:rPr lang="en-US" smtClean="0"/>
              <a:t>‹#›</a:t>
            </a:fld>
            <a:endParaRPr lang="en-US"/>
          </a:p>
        </p:txBody>
      </p:sp>
    </p:spTree>
    <p:extLst>
      <p:ext uri="{BB962C8B-B14F-4D97-AF65-F5344CB8AC3E}">
        <p14:creationId xmlns:p14="http://schemas.microsoft.com/office/powerpoint/2010/main" val="247078995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2041248-3A39-4E12-9E62-DEE22AB4EED7}" type="datetimeFigureOut">
              <a:rPr lang="en-US" smtClean="0"/>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9EF70B-B994-41D6-A36C-7AA76BCA72E1}" type="slidenum">
              <a:rPr lang="en-US" smtClean="0"/>
              <a:t>‹#›</a:t>
            </a:fld>
            <a:endParaRPr lang="en-US"/>
          </a:p>
        </p:txBody>
      </p:sp>
    </p:spTree>
    <p:extLst>
      <p:ext uri="{BB962C8B-B14F-4D97-AF65-F5344CB8AC3E}">
        <p14:creationId xmlns:p14="http://schemas.microsoft.com/office/powerpoint/2010/main" val="34078709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2041248-3A39-4E12-9E62-DEE22AB4EED7}" type="datetimeFigureOut">
              <a:rPr lang="en-US" smtClean="0"/>
              <a:t>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39EF70B-B994-41D6-A36C-7AA76BCA72E1}" type="slidenum">
              <a:rPr lang="en-US" smtClean="0"/>
              <a:t>‹#›</a:t>
            </a:fld>
            <a:endParaRPr lang="en-US"/>
          </a:p>
        </p:txBody>
      </p:sp>
    </p:spTree>
    <p:extLst>
      <p:ext uri="{BB962C8B-B14F-4D97-AF65-F5344CB8AC3E}">
        <p14:creationId xmlns:p14="http://schemas.microsoft.com/office/powerpoint/2010/main" val="40420319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E2041248-3A39-4E12-9E62-DEE22AB4EED7}" type="datetimeFigureOut">
              <a:rPr lang="en-US" smtClean="0"/>
              <a:t>2/5/2026</a:t>
            </a:fld>
            <a:endParaRPr lang="en-US"/>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en-US"/>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639EF70B-B994-41D6-A36C-7AA76BCA72E1}" type="slidenum">
              <a:rPr lang="en-US" smtClean="0"/>
              <a:t>‹#›</a:t>
            </a:fld>
            <a:endParaRPr lang="en-US"/>
          </a:p>
        </p:txBody>
      </p:sp>
    </p:spTree>
    <p:extLst>
      <p:ext uri="{BB962C8B-B14F-4D97-AF65-F5344CB8AC3E}">
        <p14:creationId xmlns:p14="http://schemas.microsoft.com/office/powerpoint/2010/main" val="3122424843"/>
      </p:ext>
    </p:extLst>
  </p:cSld>
  <p:clrMap bg1="lt1" tx1="dk1" bg2="lt2" tx2="dk2" accent1="accent1" accent2="accent2" accent3="accent3" accent4="accent4" accent5="accent5" accent6="accent6" hlink="hlink" folHlink="folHlink"/>
  <p:sldLayoutIdLst>
    <p:sldLayoutId id="2147483785" r:id="rId1"/>
    <p:sldLayoutId id="2147483786" r:id="rId2"/>
    <p:sldLayoutId id="2147483787" r:id="rId3"/>
    <p:sldLayoutId id="2147483788" r:id="rId4"/>
    <p:sldLayoutId id="2147483789" r:id="rId5"/>
    <p:sldLayoutId id="2147483790" r:id="rId6"/>
    <p:sldLayoutId id="2147483791" r:id="rId7"/>
    <p:sldLayoutId id="2147483792" r:id="rId8"/>
    <p:sldLayoutId id="2147483793" r:id="rId9"/>
    <p:sldLayoutId id="2147483794" r:id="rId10"/>
    <p:sldLayoutId id="2147483795" r:id="rId11"/>
  </p:sldLayoutIdLst>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https://data.worldbank.org/country/kenya"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732E8-9EE7-B2D9-565A-C1817B7F7EDE}"/>
              </a:ext>
            </a:extLst>
          </p:cNvPr>
          <p:cNvSpPr>
            <a:spLocks noGrp="1"/>
          </p:cNvSpPr>
          <p:nvPr>
            <p:ph type="ctrTitle"/>
          </p:nvPr>
        </p:nvSpPr>
        <p:spPr>
          <a:xfrm>
            <a:off x="1873701" y="1715628"/>
            <a:ext cx="8444596" cy="1653049"/>
          </a:xfrm>
          <a:ln>
            <a:solidFill>
              <a:schemeClr val="tx1"/>
            </a:solidFill>
          </a:ln>
        </p:spPr>
        <p:txBody>
          <a:bodyPr>
            <a:noAutofit/>
          </a:bodyPr>
          <a:lstStyle/>
          <a:p>
            <a:pPr algn="ctr"/>
            <a:r>
              <a:rPr lang="en-US" sz="3200" dirty="0" err="1">
                <a:latin typeface="Calibri" panose="020F0502020204030204" pitchFamily="34" charset="0"/>
                <a:ea typeface="Calibri" panose="020F0502020204030204" pitchFamily="34" charset="0"/>
                <a:cs typeface="Calibri" panose="020F0502020204030204" pitchFamily="34" charset="0"/>
              </a:rPr>
              <a:t>Spatio</a:t>
            </a:r>
            <a:r>
              <a:rPr lang="en-US" sz="3200" dirty="0">
                <a:latin typeface="Calibri" panose="020F0502020204030204" pitchFamily="34" charset="0"/>
                <a:ea typeface="Calibri" panose="020F0502020204030204" pitchFamily="34" charset="0"/>
                <a:cs typeface="Calibri" panose="020F0502020204030204" pitchFamily="34" charset="0"/>
              </a:rPr>
              <a:t>-Temporal Analysis of Road Traffic Crashes in Kenya: Evidence from Geo-Referenced Accident Reports (2017-2018)</a:t>
            </a:r>
          </a:p>
        </p:txBody>
      </p:sp>
      <p:sp>
        <p:nvSpPr>
          <p:cNvPr id="3" name="Subtitle 2">
            <a:extLst>
              <a:ext uri="{FF2B5EF4-FFF2-40B4-BE49-F238E27FC236}">
                <a16:creationId xmlns:a16="http://schemas.microsoft.com/office/drawing/2014/main" id="{1F38EA15-8D8D-E45B-BE31-6CA15E239148}"/>
              </a:ext>
            </a:extLst>
          </p:cNvPr>
          <p:cNvSpPr>
            <a:spLocks noGrp="1"/>
          </p:cNvSpPr>
          <p:nvPr>
            <p:ph type="subTitle" idx="1"/>
          </p:nvPr>
        </p:nvSpPr>
        <p:spPr>
          <a:xfrm>
            <a:off x="2602177" y="3429000"/>
            <a:ext cx="6987645" cy="621890"/>
          </a:xfrm>
        </p:spPr>
        <p:txBody>
          <a:bodyPr>
            <a:normAutofit/>
          </a:bodyPr>
          <a:lstStyle/>
          <a:p>
            <a:pPr algn="ctr"/>
            <a:r>
              <a:rPr lang="en-US" sz="2400" dirty="0">
                <a:latin typeface="Calibri" panose="020F0502020204030204" pitchFamily="34" charset="0"/>
                <a:ea typeface="Calibri" panose="020F0502020204030204" pitchFamily="34" charset="0"/>
                <a:cs typeface="Calibri" panose="020F0502020204030204" pitchFamily="34" charset="0"/>
              </a:rPr>
              <a:t>A Descriptive – Research study</a:t>
            </a:r>
          </a:p>
        </p:txBody>
      </p:sp>
      <p:sp>
        <p:nvSpPr>
          <p:cNvPr id="4" name="TextBox 3">
            <a:extLst>
              <a:ext uri="{FF2B5EF4-FFF2-40B4-BE49-F238E27FC236}">
                <a16:creationId xmlns:a16="http://schemas.microsoft.com/office/drawing/2014/main" id="{320BC5BA-1C83-E5A7-DF65-993249F55D3F}"/>
              </a:ext>
            </a:extLst>
          </p:cNvPr>
          <p:cNvSpPr txBox="1"/>
          <p:nvPr/>
        </p:nvSpPr>
        <p:spPr>
          <a:xfrm>
            <a:off x="2830290" y="4358348"/>
            <a:ext cx="6370585" cy="1015663"/>
          </a:xfrm>
          <a:prstGeom prst="rect">
            <a:avLst/>
          </a:prstGeom>
          <a:noFill/>
        </p:spPr>
        <p:txBody>
          <a:bodyPr wrap="square" rtlCol="0">
            <a:spAutoFit/>
          </a:bodyPr>
          <a:lstStyle/>
          <a:p>
            <a:pPr algn="ctr"/>
            <a:r>
              <a:rPr lang="en-US" sz="2000" dirty="0">
                <a:latin typeface="Calibri" panose="020F0502020204030204" pitchFamily="34" charset="0"/>
                <a:ea typeface="Calibri" panose="020F0502020204030204" pitchFamily="34" charset="0"/>
                <a:cs typeface="Calibri" panose="020F0502020204030204" pitchFamily="34" charset="0"/>
              </a:rPr>
              <a:t>Lorna Kendi</a:t>
            </a:r>
          </a:p>
          <a:p>
            <a:pPr algn="ctr"/>
            <a:r>
              <a:rPr lang="en-US" sz="2000" dirty="0">
                <a:latin typeface="Calibri" panose="020F0502020204030204" pitchFamily="34" charset="0"/>
                <a:ea typeface="Calibri" panose="020F0502020204030204" pitchFamily="34" charset="0"/>
                <a:cs typeface="Calibri" panose="020F0502020204030204" pitchFamily="34" charset="0"/>
              </a:rPr>
              <a:t>Registration number: AST/0222/23</a:t>
            </a:r>
          </a:p>
          <a:p>
            <a:pPr algn="ctr"/>
            <a:r>
              <a:rPr lang="en-US" sz="2000" dirty="0">
                <a:latin typeface="Calibri" panose="020F0502020204030204" pitchFamily="34" charset="0"/>
                <a:ea typeface="Calibri" panose="020F0502020204030204" pitchFamily="34" charset="0"/>
                <a:cs typeface="Calibri" panose="020F0502020204030204" pitchFamily="34" charset="0"/>
              </a:rPr>
              <a:t>Supervisor:</a:t>
            </a:r>
          </a:p>
        </p:txBody>
      </p:sp>
    </p:spTree>
    <p:extLst>
      <p:ext uri="{BB962C8B-B14F-4D97-AF65-F5344CB8AC3E}">
        <p14:creationId xmlns:p14="http://schemas.microsoft.com/office/powerpoint/2010/main" val="1475764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F1DBF-22EF-8ABD-BB6D-E2ADED03B47A}"/>
              </a:ext>
            </a:extLst>
          </p:cNvPr>
          <p:cNvSpPr>
            <a:spLocks noGrp="1"/>
          </p:cNvSpPr>
          <p:nvPr>
            <p:ph type="title"/>
          </p:nvPr>
        </p:nvSpPr>
        <p:spPr>
          <a:xfrm>
            <a:off x="909662" y="398207"/>
            <a:ext cx="10018713" cy="1113503"/>
          </a:xfrm>
        </p:spPr>
        <p:txBody>
          <a:bodyPr/>
          <a:lstStyle/>
          <a:p>
            <a:r>
              <a:rPr lang="en-US" dirty="0">
                <a:latin typeface="Times New Roman" panose="02020603050405020304" pitchFamily="18" charset="0"/>
                <a:cs typeface="Times New Roman" panose="02020603050405020304" pitchFamily="18" charset="0"/>
              </a:rPr>
              <a:t>Table of Contents</a:t>
            </a:r>
          </a:p>
        </p:txBody>
      </p:sp>
      <p:sp>
        <p:nvSpPr>
          <p:cNvPr id="3" name="Content Placeholder 2">
            <a:extLst>
              <a:ext uri="{FF2B5EF4-FFF2-40B4-BE49-F238E27FC236}">
                <a16:creationId xmlns:a16="http://schemas.microsoft.com/office/drawing/2014/main" id="{596141CF-05E2-235D-A61E-E8DB7BD3855A}"/>
              </a:ext>
            </a:extLst>
          </p:cNvPr>
          <p:cNvSpPr>
            <a:spLocks noGrp="1"/>
          </p:cNvSpPr>
          <p:nvPr>
            <p:ph idx="1"/>
          </p:nvPr>
        </p:nvSpPr>
        <p:spPr>
          <a:xfrm>
            <a:off x="747251" y="1511710"/>
            <a:ext cx="9409471" cy="5193890"/>
          </a:xfrm>
        </p:spPr>
        <p:txBody>
          <a:bodyPr>
            <a:normAutofit/>
          </a:bodyPr>
          <a:lstStyle/>
          <a:p>
            <a:pPr>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Background of the Study</a:t>
            </a:r>
          </a:p>
          <a:p>
            <a:pPr>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Problem Statement</a:t>
            </a:r>
          </a:p>
          <a:p>
            <a:pPr>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Objectives of the Study</a:t>
            </a:r>
          </a:p>
          <a:p>
            <a:pPr>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Data and Study Area</a:t>
            </a:r>
          </a:p>
          <a:p>
            <a:pPr>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Methodology</a:t>
            </a:r>
          </a:p>
          <a:p>
            <a:pPr>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Results</a:t>
            </a:r>
          </a:p>
          <a:p>
            <a:pPr>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Interpretation &amp; Discussion</a:t>
            </a:r>
          </a:p>
          <a:p>
            <a:pPr>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Conclusions</a:t>
            </a:r>
          </a:p>
          <a:p>
            <a:pPr>
              <a:buFont typeface="Arial" panose="020B0604020202020204" pitchFamily="34" charset="0"/>
              <a:buChar char="•"/>
            </a:pPr>
            <a:r>
              <a:rPr lang="en-US" sz="2800" dirty="0">
                <a:latin typeface="Times New Roman" panose="02020603050405020304" pitchFamily="18" charset="0"/>
                <a:cs typeface="Times New Roman" panose="02020603050405020304" pitchFamily="18" charset="0"/>
              </a:rPr>
              <a:t>Recommendations</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2991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55B4-907A-9062-F7C6-0B7804655250}"/>
              </a:ext>
            </a:extLst>
          </p:cNvPr>
          <p:cNvSpPr>
            <a:spLocks noGrp="1"/>
          </p:cNvSpPr>
          <p:nvPr>
            <p:ph type="title"/>
          </p:nvPr>
        </p:nvSpPr>
        <p:spPr>
          <a:xfrm>
            <a:off x="929148" y="750103"/>
            <a:ext cx="8814619" cy="341278"/>
          </a:xfrm>
        </p:spPr>
        <p:txBody>
          <a:bodyPr>
            <a:normAutofit fontScale="90000"/>
          </a:bodyPr>
          <a:lstStyle/>
          <a:p>
            <a:r>
              <a:rPr lang="en-US" dirty="0">
                <a:latin typeface="Times New Roman" panose="02020603050405020304" pitchFamily="18" charset="0"/>
                <a:cs typeface="Times New Roman" panose="02020603050405020304" pitchFamily="18" charset="0"/>
              </a:rPr>
              <a:t>Background of the Study</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86B187C6-F759-F64D-01BB-17D03A240762}"/>
              </a:ext>
            </a:extLst>
          </p:cNvPr>
          <p:cNvSpPr>
            <a:spLocks noChangeArrowheads="1"/>
          </p:cNvSpPr>
          <p:nvPr/>
        </p:nvSpPr>
        <p:spPr bwMode="auto">
          <a:xfrm>
            <a:off x="929148" y="849223"/>
            <a:ext cx="9719188" cy="5159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Road traffic accidents are a major public safety problem in Kenya</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Crashes result in high numbers of injuries and deaths each year</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Pedestrians and motorcyclists are the most vulnerable road users</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Accidents vary by location and time of occurrence</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Limited use of spatial and statistical analysis in safety planning</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This study uses geo-referenced crash data to support evidence-based road safety decisions</a:t>
            </a:r>
          </a:p>
        </p:txBody>
      </p:sp>
    </p:spTree>
    <p:extLst>
      <p:ext uri="{BB962C8B-B14F-4D97-AF65-F5344CB8AC3E}">
        <p14:creationId xmlns:p14="http://schemas.microsoft.com/office/powerpoint/2010/main" val="11514329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A1ECF-1BB9-245C-6460-08691E58EA0B}"/>
              </a:ext>
            </a:extLst>
          </p:cNvPr>
          <p:cNvSpPr>
            <a:spLocks noGrp="1"/>
          </p:cNvSpPr>
          <p:nvPr>
            <p:ph type="title"/>
          </p:nvPr>
        </p:nvSpPr>
        <p:spPr>
          <a:xfrm>
            <a:off x="709612" y="125907"/>
            <a:ext cx="10772775" cy="1201448"/>
          </a:xfrm>
        </p:spPr>
        <p:txBody>
          <a:bodyPr>
            <a:normAutofit/>
          </a:bodyPr>
          <a:lstStyle/>
          <a:p>
            <a:r>
              <a:rPr lang="en-US" sz="4900" dirty="0">
                <a:latin typeface="Times New Roman" panose="02020603050405020304" pitchFamily="18" charset="0"/>
                <a:cs typeface="Times New Roman" panose="02020603050405020304" pitchFamily="18" charset="0"/>
              </a:rPr>
              <a:t>Problem Statement</a:t>
            </a:r>
          </a:p>
        </p:txBody>
      </p:sp>
      <p:sp>
        <p:nvSpPr>
          <p:cNvPr id="9" name="Rectangle 3">
            <a:extLst>
              <a:ext uri="{FF2B5EF4-FFF2-40B4-BE49-F238E27FC236}">
                <a16:creationId xmlns:a16="http://schemas.microsoft.com/office/drawing/2014/main" id="{33BBAC77-F6DB-C318-6317-9FF9DD50CF35}"/>
              </a:ext>
            </a:extLst>
          </p:cNvPr>
          <p:cNvSpPr>
            <a:spLocks noChangeArrowheads="1"/>
          </p:cNvSpPr>
          <p:nvPr/>
        </p:nvSpPr>
        <p:spPr bwMode="auto">
          <a:xfrm>
            <a:off x="709612" y="842980"/>
            <a:ext cx="11523406" cy="588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Road traffic accidents remain a major public safety problem in Kenya</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High levels of fatalities, injuries, and economic losses persist</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Crashes are especially common in urban areas and along major highways</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Pedestrians and motorcyclists are disproportionately affected</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Road safety interventions lack strong data-driven and spatial evidence</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Limited use of geo-referenced data to identify hotspots, time patterns, and fatality risks</a:t>
            </a:r>
          </a:p>
          <a:p>
            <a:pPr marL="0" marR="0" lvl="0" indent="0" algn="l" defTabSz="914400" rtl="0" eaLnBrk="0" fontAlgn="base" latinLnBrk="0" hangingPunct="0">
              <a:lnSpc>
                <a:spcPct val="2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This study uses </a:t>
            </a:r>
            <a:r>
              <a:rPr kumimoji="0" lang="en-US" altLang="en-US" sz="24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spatio</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-temporal and severity analysis to support evidence-based road safety planning</a:t>
            </a:r>
          </a:p>
        </p:txBody>
      </p:sp>
    </p:spTree>
    <p:extLst>
      <p:ext uri="{BB962C8B-B14F-4D97-AF65-F5344CB8AC3E}">
        <p14:creationId xmlns:p14="http://schemas.microsoft.com/office/powerpoint/2010/main" val="36464262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F0BD2-F00C-A56C-8408-FCB353AE6CCB}"/>
              </a:ext>
            </a:extLst>
          </p:cNvPr>
          <p:cNvSpPr>
            <a:spLocks noGrp="1"/>
          </p:cNvSpPr>
          <p:nvPr>
            <p:ph type="title"/>
          </p:nvPr>
        </p:nvSpPr>
        <p:spPr>
          <a:xfrm>
            <a:off x="717755" y="76747"/>
            <a:ext cx="10712244" cy="1280106"/>
          </a:xfrm>
        </p:spPr>
        <p:txBody>
          <a:bodyPr>
            <a:normAutofit/>
          </a:bodyPr>
          <a:lstStyle/>
          <a:p>
            <a:r>
              <a:rPr lang="en-US" sz="4900" dirty="0">
                <a:latin typeface="Times New Roman" panose="02020603050405020304" pitchFamily="18" charset="0"/>
                <a:cs typeface="Times New Roman" panose="02020603050405020304" pitchFamily="18" charset="0"/>
              </a:rPr>
              <a:t>Objectives of the Study</a:t>
            </a:r>
            <a:endParaRPr lang="en-US"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12537BD-25A4-FC70-7581-AD203C59266B}"/>
              </a:ext>
            </a:extLst>
          </p:cNvPr>
          <p:cNvSpPr txBox="1"/>
          <p:nvPr/>
        </p:nvSpPr>
        <p:spPr>
          <a:xfrm>
            <a:off x="717755" y="1139587"/>
            <a:ext cx="9901084" cy="4653646"/>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General Objective</a:t>
            </a:r>
          </a:p>
          <a:p>
            <a:r>
              <a:rPr lang="en-US" sz="2000" dirty="0">
                <a:latin typeface="Times New Roman" panose="02020603050405020304" pitchFamily="18" charset="0"/>
                <a:cs typeface="Times New Roman" panose="02020603050405020304" pitchFamily="18" charset="0"/>
              </a:rPr>
              <a:t>To analyze the spatial, temporal, and severity patterns of road traffic accidents in Kenya using geo‑referenced crash data in order to inform evidence‑based road safety interventions.</a:t>
            </a:r>
            <a:br>
              <a:rPr lang="en-US" sz="2000" dirty="0">
                <a:latin typeface="Times New Roman" panose="02020603050405020304" pitchFamily="18" charset="0"/>
                <a:cs typeface="Times New Roman" panose="02020603050405020304" pitchFamily="18" charset="0"/>
              </a:rPr>
            </a:br>
            <a:endParaRPr lang="en-US" sz="2000" dirty="0">
              <a:latin typeface="Times New Roman" panose="02020603050405020304" pitchFamily="18" charset="0"/>
              <a:cs typeface="Times New Roman" panose="02020603050405020304" pitchFamily="18" charset="0"/>
            </a:endParaRPr>
          </a:p>
          <a:p>
            <a:pPr>
              <a:lnSpc>
                <a:spcPct val="150000"/>
              </a:lnSpc>
            </a:pPr>
            <a:r>
              <a:rPr lang="en-US" sz="2400" b="1" u="sng" dirty="0">
                <a:latin typeface="Times New Roman" panose="02020603050405020304" pitchFamily="18" charset="0"/>
                <a:cs typeface="Times New Roman" panose="02020603050405020304" pitchFamily="18" charset="0"/>
              </a:rPr>
              <a:t>Specific objectives</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To analyze when road accidents occur (by hour, day, and month)</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To identify accident hotspot locations across Kenya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To examine how road user types (pedestrians, motorcyclists, matatus) relate to crash fatality</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To determine factors influencing fatal crashes using correlation and logistic regression</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To provide data‑driven insights and policy recommendations to improve road safety in Kenya</a:t>
            </a:r>
          </a:p>
        </p:txBody>
      </p:sp>
    </p:spTree>
    <p:extLst>
      <p:ext uri="{BB962C8B-B14F-4D97-AF65-F5344CB8AC3E}">
        <p14:creationId xmlns:p14="http://schemas.microsoft.com/office/powerpoint/2010/main" val="28771113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1A46B6-72FF-A953-7F52-F392597B8C33}"/>
              </a:ext>
            </a:extLst>
          </p:cNvPr>
          <p:cNvSpPr>
            <a:spLocks noGrp="1"/>
          </p:cNvSpPr>
          <p:nvPr>
            <p:ph type="title"/>
          </p:nvPr>
        </p:nvSpPr>
        <p:spPr>
          <a:xfrm>
            <a:off x="442452" y="0"/>
            <a:ext cx="10515599" cy="1083461"/>
          </a:xfrm>
        </p:spPr>
        <p:txBody>
          <a:bodyPr>
            <a:normAutofit/>
          </a:bodyPr>
          <a:lstStyle/>
          <a:p>
            <a:r>
              <a:rPr lang="en-US" sz="4900" dirty="0">
                <a:latin typeface="Times New Roman" panose="02020603050405020304" pitchFamily="18" charset="0"/>
                <a:cs typeface="Times New Roman" panose="02020603050405020304" pitchFamily="18" charset="0"/>
              </a:rPr>
              <a:t>Data and Study Area</a:t>
            </a:r>
          </a:p>
        </p:txBody>
      </p:sp>
      <p:sp>
        <p:nvSpPr>
          <p:cNvPr id="3" name="Content Placeholder 2">
            <a:extLst>
              <a:ext uri="{FF2B5EF4-FFF2-40B4-BE49-F238E27FC236}">
                <a16:creationId xmlns:a16="http://schemas.microsoft.com/office/drawing/2014/main" id="{34BC1C98-F1FE-9279-27FF-A192C1A1C4F1}"/>
              </a:ext>
            </a:extLst>
          </p:cNvPr>
          <p:cNvSpPr>
            <a:spLocks noGrp="1"/>
          </p:cNvSpPr>
          <p:nvPr>
            <p:ph idx="1"/>
          </p:nvPr>
        </p:nvSpPr>
        <p:spPr>
          <a:xfrm>
            <a:off x="442452" y="1278194"/>
            <a:ext cx="10987930" cy="5388077"/>
          </a:xfrm>
        </p:spPr>
        <p:txBody>
          <a:bodyPr>
            <a:noAutofit/>
          </a:bodyPr>
          <a:lstStyle/>
          <a:p>
            <a:pPr>
              <a:lnSpc>
                <a:spcPct val="10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The study uses secondary data from World Bank Open Data on road traffic accidents in Kenya from 2017-2018. </a:t>
            </a:r>
            <a:r>
              <a:rPr lang="en-US" dirty="0"/>
              <a:t>(</a:t>
            </a:r>
            <a:r>
              <a:rPr lang="en-US" u="sng" dirty="0">
                <a:hlinkClick r:id="rId2"/>
              </a:rPr>
              <a:t>https://data.worldbank.org/country/kenya</a:t>
            </a:r>
            <a:r>
              <a:rPr lang="en-US" dirty="0"/>
              <a:t> )  </a:t>
            </a:r>
            <a:endParaRPr lang="en-US" dirty="0">
              <a:latin typeface="Times New Roman" panose="02020603050405020304" pitchFamily="18" charset="0"/>
              <a:cs typeface="Times New Roman" panose="02020603050405020304" pitchFamily="18" charset="0"/>
            </a:endParaRPr>
          </a:p>
          <a:p>
            <a:pPr>
              <a:lnSpc>
                <a:spcPct val="10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It includes key variables such as:</a:t>
            </a:r>
          </a:p>
          <a:p>
            <a:pPr lvl="1">
              <a:lnSpc>
                <a:spcPct val="10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Location (latitude and longitude)</a:t>
            </a:r>
          </a:p>
          <a:p>
            <a:pPr lvl="1">
              <a:lnSpc>
                <a:spcPct val="10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Time and date of accidents</a:t>
            </a:r>
          </a:p>
          <a:p>
            <a:pPr lvl="1">
              <a:lnSpc>
                <a:spcPct val="10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Road user type involved</a:t>
            </a:r>
          </a:p>
          <a:p>
            <a:pPr lvl="1">
              <a:lnSpc>
                <a:spcPct val="10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Crash severity (fatal or non‑fatal)</a:t>
            </a:r>
          </a:p>
          <a:p>
            <a:pPr>
              <a:lnSpc>
                <a:spcPct val="10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The data are suitable for analyzing spatial, temporal, and severity patterns of accidents.</a:t>
            </a:r>
          </a:p>
          <a:p>
            <a:pPr>
              <a:lnSpc>
                <a:spcPct val="10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Data were cleaned and processed to improve accuracy and consistency.</a:t>
            </a:r>
          </a:p>
          <a:p>
            <a:pPr>
              <a:lnSpc>
                <a:spcPct val="100000"/>
              </a:lnSpc>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The final dataset was used for spatial analysis, correlation analysis, and logistic regression.</a:t>
            </a:r>
          </a:p>
        </p:txBody>
      </p:sp>
    </p:spTree>
    <p:extLst>
      <p:ext uri="{BB962C8B-B14F-4D97-AF65-F5344CB8AC3E}">
        <p14:creationId xmlns:p14="http://schemas.microsoft.com/office/powerpoint/2010/main" val="8061129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AE736-DD4A-340C-4D32-3ED07BA92EB8}"/>
              </a:ext>
            </a:extLst>
          </p:cNvPr>
          <p:cNvSpPr>
            <a:spLocks noGrp="1"/>
          </p:cNvSpPr>
          <p:nvPr>
            <p:ph type="title"/>
          </p:nvPr>
        </p:nvSpPr>
        <p:spPr>
          <a:xfrm>
            <a:off x="892583" y="95249"/>
            <a:ext cx="10456605" cy="1313336"/>
          </a:xfrm>
        </p:spPr>
        <p:txBody>
          <a:bodyPr>
            <a:normAutofit/>
          </a:bodyPr>
          <a:lstStyle/>
          <a:p>
            <a:r>
              <a:rPr lang="en-US" sz="4900" dirty="0">
                <a:latin typeface="Times New Roman" panose="02020603050405020304" pitchFamily="18" charset="0"/>
                <a:cs typeface="Times New Roman" panose="02020603050405020304" pitchFamily="18" charset="0"/>
              </a:rPr>
              <a:t>Methodology</a:t>
            </a:r>
          </a:p>
        </p:txBody>
      </p:sp>
      <p:grpSp>
        <p:nvGrpSpPr>
          <p:cNvPr id="53" name="Group 52">
            <a:extLst>
              <a:ext uri="{FF2B5EF4-FFF2-40B4-BE49-F238E27FC236}">
                <a16:creationId xmlns:a16="http://schemas.microsoft.com/office/drawing/2014/main" id="{8662F3EF-A656-FFB0-954C-824D037C3FBF}"/>
              </a:ext>
            </a:extLst>
          </p:cNvPr>
          <p:cNvGrpSpPr/>
          <p:nvPr/>
        </p:nvGrpSpPr>
        <p:grpSpPr>
          <a:xfrm>
            <a:off x="892583" y="1524001"/>
            <a:ext cx="4072707" cy="4464863"/>
            <a:chOff x="892583" y="1524001"/>
            <a:chExt cx="4072707" cy="4464863"/>
          </a:xfrm>
        </p:grpSpPr>
        <p:sp>
          <p:nvSpPr>
            <p:cNvPr id="5" name="TextBox 4">
              <a:extLst>
                <a:ext uri="{FF2B5EF4-FFF2-40B4-BE49-F238E27FC236}">
                  <a16:creationId xmlns:a16="http://schemas.microsoft.com/office/drawing/2014/main" id="{6AD0FB83-21A8-4508-34FB-CE82A5293C33}"/>
                </a:ext>
              </a:extLst>
            </p:cNvPr>
            <p:cNvSpPr txBox="1"/>
            <p:nvPr/>
          </p:nvSpPr>
          <p:spPr>
            <a:xfrm>
              <a:off x="892586" y="1524001"/>
              <a:ext cx="4072704" cy="461665"/>
            </a:xfrm>
            <a:prstGeom prst="rect">
              <a:avLst/>
            </a:prstGeom>
            <a:noFill/>
            <a:ln>
              <a:solidFill>
                <a:schemeClr val="tx1"/>
              </a:solidFill>
            </a:ln>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Data Cleaning</a:t>
              </a:r>
            </a:p>
          </p:txBody>
        </p:sp>
        <p:sp>
          <p:nvSpPr>
            <p:cNvPr id="6" name="Arrow: Down 5">
              <a:extLst>
                <a:ext uri="{FF2B5EF4-FFF2-40B4-BE49-F238E27FC236}">
                  <a16:creationId xmlns:a16="http://schemas.microsoft.com/office/drawing/2014/main" id="{38C98D01-9482-BA83-C9E2-C2F7682E9224}"/>
                </a:ext>
              </a:extLst>
            </p:cNvPr>
            <p:cNvSpPr/>
            <p:nvPr/>
          </p:nvSpPr>
          <p:spPr>
            <a:xfrm>
              <a:off x="2499653" y="1976938"/>
              <a:ext cx="563921" cy="45293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F06D7DF-39FA-57D9-21C0-F6C92E7BDB12}"/>
                </a:ext>
              </a:extLst>
            </p:cNvPr>
            <p:cNvSpPr txBox="1"/>
            <p:nvPr/>
          </p:nvSpPr>
          <p:spPr>
            <a:xfrm>
              <a:off x="892586" y="2429876"/>
              <a:ext cx="4072704" cy="461665"/>
            </a:xfrm>
            <a:prstGeom prst="rect">
              <a:avLst/>
            </a:prstGeom>
            <a:noFill/>
            <a:ln>
              <a:solidFill>
                <a:schemeClr val="tx1"/>
              </a:solidFill>
            </a:ln>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Descriptive Analysis</a:t>
              </a:r>
            </a:p>
          </p:txBody>
        </p:sp>
        <p:sp>
          <p:nvSpPr>
            <p:cNvPr id="9" name="Arrow: Down 8">
              <a:extLst>
                <a:ext uri="{FF2B5EF4-FFF2-40B4-BE49-F238E27FC236}">
                  <a16:creationId xmlns:a16="http://schemas.microsoft.com/office/drawing/2014/main" id="{64FD26F5-A054-C02A-D210-94C4E1CBA11B}"/>
                </a:ext>
              </a:extLst>
            </p:cNvPr>
            <p:cNvSpPr/>
            <p:nvPr/>
          </p:nvSpPr>
          <p:spPr>
            <a:xfrm>
              <a:off x="2479982" y="2882813"/>
              <a:ext cx="563921" cy="49563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89BA55B-CB76-E08E-E58E-942847A72366}"/>
                </a:ext>
              </a:extLst>
            </p:cNvPr>
            <p:cNvSpPr txBox="1"/>
            <p:nvPr/>
          </p:nvSpPr>
          <p:spPr>
            <a:xfrm>
              <a:off x="892586" y="3378450"/>
              <a:ext cx="4072704" cy="461665"/>
            </a:xfrm>
            <a:prstGeom prst="rect">
              <a:avLst/>
            </a:prstGeom>
            <a:noFill/>
            <a:ln>
              <a:solidFill>
                <a:schemeClr val="tx1"/>
              </a:solidFill>
            </a:ln>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Spatial Analysis </a:t>
              </a:r>
            </a:p>
          </p:txBody>
        </p:sp>
        <p:sp>
          <p:nvSpPr>
            <p:cNvPr id="11" name="Arrow: Down 10">
              <a:extLst>
                <a:ext uri="{FF2B5EF4-FFF2-40B4-BE49-F238E27FC236}">
                  <a16:creationId xmlns:a16="http://schemas.microsoft.com/office/drawing/2014/main" id="{082B3545-15B9-2F53-2B42-D4F3A3C8A923}"/>
                </a:ext>
              </a:extLst>
            </p:cNvPr>
            <p:cNvSpPr/>
            <p:nvPr/>
          </p:nvSpPr>
          <p:spPr>
            <a:xfrm>
              <a:off x="2479981" y="3861721"/>
              <a:ext cx="563921" cy="59650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BBA91E8-8B94-5576-5664-371DE65B4514}"/>
                </a:ext>
              </a:extLst>
            </p:cNvPr>
            <p:cNvSpPr txBox="1"/>
            <p:nvPr/>
          </p:nvSpPr>
          <p:spPr>
            <a:xfrm>
              <a:off x="892583" y="4483030"/>
              <a:ext cx="4072704" cy="461665"/>
            </a:xfrm>
            <a:prstGeom prst="rect">
              <a:avLst/>
            </a:prstGeom>
            <a:noFill/>
            <a:ln>
              <a:solidFill>
                <a:schemeClr val="tx1"/>
              </a:solidFill>
            </a:ln>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Correlation Analysis</a:t>
              </a:r>
            </a:p>
          </p:txBody>
        </p:sp>
        <p:sp>
          <p:nvSpPr>
            <p:cNvPr id="13" name="Arrow: Down 12">
              <a:extLst>
                <a:ext uri="{FF2B5EF4-FFF2-40B4-BE49-F238E27FC236}">
                  <a16:creationId xmlns:a16="http://schemas.microsoft.com/office/drawing/2014/main" id="{77ED4611-E8D3-1DED-3A0F-A2D1818D2067}"/>
                </a:ext>
              </a:extLst>
            </p:cNvPr>
            <p:cNvSpPr/>
            <p:nvPr/>
          </p:nvSpPr>
          <p:spPr>
            <a:xfrm>
              <a:off x="2479981" y="4954124"/>
              <a:ext cx="563921" cy="57307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AD89BFE-9FB6-33BB-0F2C-FB6F1F5F53B0}"/>
                </a:ext>
              </a:extLst>
            </p:cNvPr>
            <p:cNvSpPr txBox="1"/>
            <p:nvPr/>
          </p:nvSpPr>
          <p:spPr>
            <a:xfrm>
              <a:off x="892583" y="5527199"/>
              <a:ext cx="4072704" cy="461665"/>
            </a:xfrm>
            <a:prstGeom prst="rect">
              <a:avLst/>
            </a:prstGeom>
            <a:noFill/>
            <a:ln>
              <a:solidFill>
                <a:schemeClr val="tx1"/>
              </a:solidFill>
            </a:ln>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Binary Logistic Regression</a:t>
              </a:r>
            </a:p>
          </p:txBody>
        </p:sp>
      </p:grpSp>
      <p:cxnSp>
        <p:nvCxnSpPr>
          <p:cNvPr id="18" name="Straight Arrow Connector 17">
            <a:extLst>
              <a:ext uri="{FF2B5EF4-FFF2-40B4-BE49-F238E27FC236}">
                <a16:creationId xmlns:a16="http://schemas.microsoft.com/office/drawing/2014/main" id="{557B4D6F-EC7E-1DDC-BBAE-2959F1E48971}"/>
              </a:ext>
            </a:extLst>
          </p:cNvPr>
          <p:cNvCxnSpPr>
            <a:cxnSpLocks/>
            <a:stCxn id="5" idx="3"/>
            <a:endCxn id="20" idx="1"/>
          </p:cNvCxnSpPr>
          <p:nvPr/>
        </p:nvCxnSpPr>
        <p:spPr>
          <a:xfrm flipV="1">
            <a:off x="4965290" y="934462"/>
            <a:ext cx="1514168" cy="82037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0" name="TextBox 19">
            <a:extLst>
              <a:ext uri="{FF2B5EF4-FFF2-40B4-BE49-F238E27FC236}">
                <a16:creationId xmlns:a16="http://schemas.microsoft.com/office/drawing/2014/main" id="{2038CE43-2018-7876-6AD2-4A411F0B29EF}"/>
              </a:ext>
            </a:extLst>
          </p:cNvPr>
          <p:cNvSpPr txBox="1"/>
          <p:nvPr/>
        </p:nvSpPr>
        <p:spPr>
          <a:xfrm>
            <a:off x="6479458" y="334297"/>
            <a:ext cx="5368413" cy="1200329"/>
          </a:xfrm>
          <a:prstGeom prst="rect">
            <a:avLst/>
          </a:prstGeom>
          <a:noFill/>
          <a:ln>
            <a:solidFill>
              <a:schemeClr val="tx1"/>
            </a:solidFill>
          </a:ln>
        </p:spPr>
        <p:txBody>
          <a:bodyPr wrap="square" rtlCol="0">
            <a:spAutoFit/>
          </a:bodyPr>
          <a:lstStyle/>
          <a:p>
            <a:r>
              <a:rPr lang="en-US" dirty="0">
                <a:latin typeface="Times New Roman" panose="02020603050405020304" pitchFamily="18" charset="0"/>
                <a:cs typeface="Times New Roman" panose="02020603050405020304" pitchFamily="18" charset="0"/>
              </a:rPr>
              <a:t>- Obtained secondary road accident data for Kenya</a:t>
            </a:r>
          </a:p>
          <a:p>
            <a:r>
              <a:rPr lang="en-US" dirty="0">
                <a:latin typeface="Times New Roman" panose="02020603050405020304" pitchFamily="18" charset="0"/>
                <a:cs typeface="Times New Roman" panose="02020603050405020304" pitchFamily="18" charset="0"/>
              </a:rPr>
              <a:t>- Removed records with missing or incomplete key information</a:t>
            </a:r>
          </a:p>
          <a:p>
            <a:r>
              <a:rPr lang="en-US" dirty="0">
                <a:latin typeface="Times New Roman" panose="02020603050405020304" pitchFamily="18" charset="0"/>
                <a:cs typeface="Times New Roman" panose="02020603050405020304" pitchFamily="18" charset="0"/>
              </a:rPr>
              <a:t>- Prepared variables for analysis</a:t>
            </a:r>
          </a:p>
        </p:txBody>
      </p:sp>
      <p:cxnSp>
        <p:nvCxnSpPr>
          <p:cNvPr id="24" name="Straight Arrow Connector 23">
            <a:extLst>
              <a:ext uri="{FF2B5EF4-FFF2-40B4-BE49-F238E27FC236}">
                <a16:creationId xmlns:a16="http://schemas.microsoft.com/office/drawing/2014/main" id="{99050A29-8444-B6B1-A729-286534F4A327}"/>
              </a:ext>
            </a:extLst>
          </p:cNvPr>
          <p:cNvCxnSpPr>
            <a:cxnSpLocks/>
            <a:stCxn id="8" idx="3"/>
            <a:endCxn id="25" idx="1"/>
          </p:cNvCxnSpPr>
          <p:nvPr/>
        </p:nvCxnSpPr>
        <p:spPr>
          <a:xfrm flipV="1">
            <a:off x="4965290" y="2282649"/>
            <a:ext cx="1514167" cy="3780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id="{235D067D-B6F7-9256-C2CC-32D83690380E}"/>
              </a:ext>
            </a:extLst>
          </p:cNvPr>
          <p:cNvSpPr txBox="1"/>
          <p:nvPr/>
        </p:nvSpPr>
        <p:spPr>
          <a:xfrm>
            <a:off x="6479457" y="1682484"/>
            <a:ext cx="5368414" cy="1200329"/>
          </a:xfrm>
          <a:prstGeom prst="rect">
            <a:avLst/>
          </a:prstGeom>
          <a:noFill/>
          <a:ln>
            <a:solidFill>
              <a:schemeClr val="tx1"/>
            </a:solidFill>
          </a:ln>
        </p:spPr>
        <p:txBody>
          <a:bodyPr wrap="square" rtlCol="0">
            <a:spAutoFit/>
          </a:bodyPr>
          <a:lstStyle/>
          <a:p>
            <a:r>
              <a:rPr lang="en-US" dirty="0">
                <a:latin typeface="Times New Roman" panose="02020603050405020304" pitchFamily="18" charset="0"/>
                <a:cs typeface="Times New Roman" panose="02020603050405020304" pitchFamily="18" charset="0"/>
              </a:rPr>
              <a:t>- Summarized accidents by hour, day of week, and month</a:t>
            </a:r>
          </a:p>
          <a:p>
            <a:r>
              <a:rPr lang="en-US" dirty="0">
                <a:latin typeface="Times New Roman" panose="02020603050405020304" pitchFamily="18" charset="0"/>
                <a:cs typeface="Times New Roman" panose="02020603050405020304" pitchFamily="18" charset="0"/>
              </a:rPr>
              <a:t>- Examined crash frequency and severity patterns</a:t>
            </a:r>
          </a:p>
          <a:p>
            <a:r>
              <a:rPr lang="en-US" dirty="0">
                <a:latin typeface="Times New Roman" panose="02020603050405020304" pitchFamily="18" charset="0"/>
                <a:cs typeface="Times New Roman" panose="02020603050405020304" pitchFamily="18" charset="0"/>
              </a:rPr>
              <a:t>- Analyzed distribution by road user categories</a:t>
            </a:r>
          </a:p>
        </p:txBody>
      </p:sp>
      <p:cxnSp>
        <p:nvCxnSpPr>
          <p:cNvPr id="29" name="Straight Arrow Connector 28">
            <a:extLst>
              <a:ext uri="{FF2B5EF4-FFF2-40B4-BE49-F238E27FC236}">
                <a16:creationId xmlns:a16="http://schemas.microsoft.com/office/drawing/2014/main" id="{8E9F89CA-9E2C-3498-C124-4C6386A86969}"/>
              </a:ext>
            </a:extLst>
          </p:cNvPr>
          <p:cNvCxnSpPr>
            <a:cxnSpLocks/>
            <a:stCxn id="10" idx="3"/>
            <a:endCxn id="30" idx="1"/>
          </p:cNvCxnSpPr>
          <p:nvPr/>
        </p:nvCxnSpPr>
        <p:spPr>
          <a:xfrm flipV="1">
            <a:off x="4965290" y="3492336"/>
            <a:ext cx="1514166" cy="11694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6B47D37-E12B-7F50-28E8-2A6C1101EAA5}"/>
              </a:ext>
            </a:extLst>
          </p:cNvPr>
          <p:cNvSpPr txBox="1"/>
          <p:nvPr/>
        </p:nvSpPr>
        <p:spPr>
          <a:xfrm>
            <a:off x="6479456" y="3030671"/>
            <a:ext cx="5368415" cy="923330"/>
          </a:xfrm>
          <a:prstGeom prst="rect">
            <a:avLst/>
          </a:prstGeom>
          <a:noFill/>
          <a:ln>
            <a:solidFill>
              <a:schemeClr val="tx1"/>
            </a:solidFill>
          </a:ln>
        </p:spPr>
        <p:txBody>
          <a:bodyPr wrap="square" rtlCol="0">
            <a:spAutoFit/>
          </a:bodyPr>
          <a:lstStyle/>
          <a:p>
            <a:r>
              <a:rPr lang="en-US" dirty="0">
                <a:latin typeface="Times New Roman" panose="02020603050405020304" pitchFamily="18" charset="0"/>
                <a:cs typeface="Times New Roman" panose="02020603050405020304" pitchFamily="18" charset="0"/>
              </a:rPr>
              <a:t>- Used latitude and longitude to map accident locations</a:t>
            </a:r>
          </a:p>
          <a:p>
            <a:r>
              <a:rPr lang="en-US" dirty="0">
                <a:latin typeface="Times New Roman" panose="02020603050405020304" pitchFamily="18" charset="0"/>
                <a:cs typeface="Times New Roman" panose="02020603050405020304" pitchFamily="18" charset="0"/>
              </a:rPr>
              <a:t>- Identified high‑risk areas using hotspots</a:t>
            </a:r>
          </a:p>
          <a:p>
            <a:r>
              <a:rPr lang="en-US" dirty="0">
                <a:latin typeface="Times New Roman" panose="02020603050405020304" pitchFamily="18" charset="0"/>
                <a:cs typeface="Times New Roman" panose="02020603050405020304" pitchFamily="18" charset="0"/>
              </a:rPr>
              <a:t>- Visualized spatial distribution of crashes across Kenya</a:t>
            </a:r>
          </a:p>
        </p:txBody>
      </p:sp>
      <p:cxnSp>
        <p:nvCxnSpPr>
          <p:cNvPr id="35" name="Straight Arrow Connector 34">
            <a:extLst>
              <a:ext uri="{FF2B5EF4-FFF2-40B4-BE49-F238E27FC236}">
                <a16:creationId xmlns:a16="http://schemas.microsoft.com/office/drawing/2014/main" id="{70496C3C-C6A3-3EC5-0BF7-3567817E6E31}"/>
              </a:ext>
            </a:extLst>
          </p:cNvPr>
          <p:cNvCxnSpPr>
            <a:cxnSpLocks/>
            <a:stCxn id="12" idx="3"/>
            <a:endCxn id="36" idx="1"/>
          </p:cNvCxnSpPr>
          <p:nvPr/>
        </p:nvCxnSpPr>
        <p:spPr>
          <a:xfrm flipV="1">
            <a:off x="4965287" y="4593423"/>
            <a:ext cx="1514169" cy="12044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6" name="TextBox 35">
            <a:extLst>
              <a:ext uri="{FF2B5EF4-FFF2-40B4-BE49-F238E27FC236}">
                <a16:creationId xmlns:a16="http://schemas.microsoft.com/office/drawing/2014/main" id="{DF2039A8-D500-9183-8192-6B610818600F}"/>
              </a:ext>
            </a:extLst>
          </p:cNvPr>
          <p:cNvSpPr txBox="1"/>
          <p:nvPr/>
        </p:nvSpPr>
        <p:spPr>
          <a:xfrm>
            <a:off x="6479456" y="4131758"/>
            <a:ext cx="5368415" cy="923330"/>
          </a:xfrm>
          <a:prstGeom prst="rect">
            <a:avLst/>
          </a:prstGeom>
          <a:noFill/>
          <a:ln>
            <a:solidFill>
              <a:schemeClr val="tx1"/>
            </a:solidFill>
          </a:ln>
        </p:spPr>
        <p:txBody>
          <a:bodyPr wrap="square" rtlCol="0">
            <a:spAutoFit/>
          </a:bodyPr>
          <a:lstStyle/>
          <a:p>
            <a:r>
              <a:rPr lang="en-US" dirty="0">
                <a:latin typeface="Times New Roman" panose="02020603050405020304" pitchFamily="18" charset="0"/>
                <a:cs typeface="Times New Roman" panose="02020603050405020304" pitchFamily="18" charset="0"/>
              </a:rPr>
              <a:t>- Examined relationships between road user types, time factors, and crash severity</a:t>
            </a:r>
          </a:p>
          <a:p>
            <a:r>
              <a:rPr lang="en-US" dirty="0">
                <a:latin typeface="Times New Roman" panose="02020603050405020304" pitchFamily="18" charset="0"/>
                <a:cs typeface="Times New Roman" panose="02020603050405020304" pitchFamily="18" charset="0"/>
              </a:rPr>
              <a:t>- Identified key variables associated with fatal accidents</a:t>
            </a:r>
          </a:p>
        </p:txBody>
      </p:sp>
      <p:cxnSp>
        <p:nvCxnSpPr>
          <p:cNvPr id="40" name="Straight Arrow Connector 39">
            <a:extLst>
              <a:ext uri="{FF2B5EF4-FFF2-40B4-BE49-F238E27FC236}">
                <a16:creationId xmlns:a16="http://schemas.microsoft.com/office/drawing/2014/main" id="{876058E7-7FA0-8007-6BD4-A0FF734BA582}"/>
              </a:ext>
            </a:extLst>
          </p:cNvPr>
          <p:cNvCxnSpPr>
            <a:cxnSpLocks/>
            <a:stCxn id="14" idx="3"/>
            <a:endCxn id="41" idx="1"/>
          </p:cNvCxnSpPr>
          <p:nvPr/>
        </p:nvCxnSpPr>
        <p:spPr>
          <a:xfrm>
            <a:off x="4965287" y="5758032"/>
            <a:ext cx="1514169" cy="724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1" name="TextBox 40">
            <a:extLst>
              <a:ext uri="{FF2B5EF4-FFF2-40B4-BE49-F238E27FC236}">
                <a16:creationId xmlns:a16="http://schemas.microsoft.com/office/drawing/2014/main" id="{C285637D-4828-7264-A69F-CEEBCA14C827}"/>
              </a:ext>
            </a:extLst>
          </p:cNvPr>
          <p:cNvSpPr txBox="1"/>
          <p:nvPr/>
        </p:nvSpPr>
        <p:spPr>
          <a:xfrm>
            <a:off x="6479456" y="5230365"/>
            <a:ext cx="5368415" cy="1200329"/>
          </a:xfrm>
          <a:prstGeom prst="rect">
            <a:avLst/>
          </a:prstGeom>
          <a:noFill/>
          <a:ln>
            <a:solidFill>
              <a:schemeClr val="tx1"/>
            </a:solidFill>
          </a:ln>
        </p:spPr>
        <p:txBody>
          <a:bodyPr wrap="square" rtlCol="0">
            <a:spAutoFit/>
          </a:bodyPr>
          <a:lstStyle/>
          <a:p>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Modeled the likelihood of a crash being fatal or non‑fatal</a:t>
            </a:r>
          </a:p>
          <a:p>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Assessed the effect of road user category and other factors on fatality risk</a:t>
            </a:r>
          </a:p>
        </p:txBody>
      </p:sp>
    </p:spTree>
    <p:extLst>
      <p:ext uri="{BB962C8B-B14F-4D97-AF65-F5344CB8AC3E}">
        <p14:creationId xmlns:p14="http://schemas.microsoft.com/office/powerpoint/2010/main" val="42907611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9F4C1-E68A-58FF-E105-31BAFC0E38F4}"/>
              </a:ext>
            </a:extLst>
          </p:cNvPr>
          <p:cNvSpPr>
            <a:spLocks noGrp="1"/>
          </p:cNvSpPr>
          <p:nvPr>
            <p:ph type="title"/>
          </p:nvPr>
        </p:nvSpPr>
        <p:spPr>
          <a:xfrm>
            <a:off x="676656" y="108154"/>
            <a:ext cx="10250128" cy="1184337"/>
          </a:xfrm>
        </p:spPr>
        <p:txBody>
          <a:bodyPr/>
          <a:lstStyle/>
          <a:p>
            <a:r>
              <a:rPr lang="en-US" dirty="0">
                <a:latin typeface="Times New Roman" panose="02020603050405020304" pitchFamily="18" charset="0"/>
                <a:cs typeface="Times New Roman" panose="02020603050405020304" pitchFamily="18" charset="0"/>
              </a:rPr>
              <a:t>Descriptive Results</a:t>
            </a:r>
            <a:endParaRPr lang="en-US" dirty="0"/>
          </a:p>
        </p:txBody>
      </p:sp>
      <p:sp>
        <p:nvSpPr>
          <p:cNvPr id="6" name="TextBox 5">
            <a:extLst>
              <a:ext uri="{FF2B5EF4-FFF2-40B4-BE49-F238E27FC236}">
                <a16:creationId xmlns:a16="http://schemas.microsoft.com/office/drawing/2014/main" id="{D511CB70-A287-E6B7-CC8E-D6211EB003CA}"/>
              </a:ext>
            </a:extLst>
          </p:cNvPr>
          <p:cNvSpPr txBox="1"/>
          <p:nvPr/>
        </p:nvSpPr>
        <p:spPr>
          <a:xfrm>
            <a:off x="676656" y="1169810"/>
            <a:ext cx="7885471"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Distribution of Road Traffic Accidents by Crash Severity</a:t>
            </a:r>
          </a:p>
        </p:txBody>
      </p:sp>
      <p:pic>
        <p:nvPicPr>
          <p:cNvPr id="19" name="Picture 18">
            <a:extLst>
              <a:ext uri="{FF2B5EF4-FFF2-40B4-BE49-F238E27FC236}">
                <a16:creationId xmlns:a16="http://schemas.microsoft.com/office/drawing/2014/main" id="{838F5C39-C6AC-C1AA-588D-47B16F9419B8}"/>
              </a:ext>
            </a:extLst>
          </p:cNvPr>
          <p:cNvPicPr>
            <a:picLocks noChangeAspect="1"/>
          </p:cNvPicPr>
          <p:nvPr/>
        </p:nvPicPr>
        <p:blipFill>
          <a:blip r:embed="rId2"/>
          <a:stretch>
            <a:fillRect/>
          </a:stretch>
        </p:blipFill>
        <p:spPr>
          <a:xfrm>
            <a:off x="540928" y="1862534"/>
            <a:ext cx="4581525" cy="4517001"/>
          </a:xfrm>
          <a:prstGeom prst="rect">
            <a:avLst/>
          </a:prstGeom>
        </p:spPr>
      </p:pic>
      <p:sp>
        <p:nvSpPr>
          <p:cNvPr id="23" name="TextBox 22">
            <a:extLst>
              <a:ext uri="{FF2B5EF4-FFF2-40B4-BE49-F238E27FC236}">
                <a16:creationId xmlns:a16="http://schemas.microsoft.com/office/drawing/2014/main" id="{F70C20C0-2C25-3A64-3862-BB4AD67A8876}"/>
              </a:ext>
            </a:extLst>
          </p:cNvPr>
          <p:cNvSpPr txBox="1"/>
          <p:nvPr/>
        </p:nvSpPr>
        <p:spPr>
          <a:xfrm>
            <a:off x="5565058" y="2113935"/>
            <a:ext cx="5535561" cy="2677656"/>
          </a:xfrm>
          <a:prstGeom prst="rect">
            <a:avLst/>
          </a:prstGeom>
          <a:noFill/>
        </p:spPr>
        <p:txBody>
          <a:bodyPr wrap="square" rtlCol="0">
            <a:spAutoFit/>
          </a:bodyPr>
          <a:lstStyle/>
          <a:p>
            <a:r>
              <a:rPr lang="en-US" sz="2400" i="1" dirty="0">
                <a:latin typeface="Times New Roman" panose="02020603050405020304" pitchFamily="18" charset="0"/>
                <a:cs typeface="Times New Roman" panose="02020603050405020304" pitchFamily="18" charset="0"/>
              </a:rPr>
              <a:t>The figure shows the proportion of fatal and non‑fatal road traffic accidents. The results indicate that non‑fatal accidents constitute a larger share of the total accidents, while fatal accidents represent a smaller proportion.</a:t>
            </a:r>
            <a:endParaRPr lang="en-US" sz="2400" dirty="0">
              <a:latin typeface="Times New Roman" panose="02020603050405020304" pitchFamily="18" charset="0"/>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142094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B5DFC11-B9F3-8298-2A6A-71017ABD8399}"/>
              </a:ext>
            </a:extLst>
          </p:cNvPr>
          <p:cNvSpPr txBox="1"/>
          <p:nvPr/>
        </p:nvSpPr>
        <p:spPr>
          <a:xfrm>
            <a:off x="639097" y="521110"/>
            <a:ext cx="8416413"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Distribution of Road Traffic Crashes by Road User Category</a:t>
            </a:r>
          </a:p>
        </p:txBody>
      </p:sp>
      <p:pic>
        <p:nvPicPr>
          <p:cNvPr id="6" name="Picture 5">
            <a:extLst>
              <a:ext uri="{FF2B5EF4-FFF2-40B4-BE49-F238E27FC236}">
                <a16:creationId xmlns:a16="http://schemas.microsoft.com/office/drawing/2014/main" id="{95A311E1-A1D3-8B14-F9C9-B6C1F0DF03C1}"/>
              </a:ext>
            </a:extLst>
          </p:cNvPr>
          <p:cNvPicPr>
            <a:picLocks noChangeAspect="1"/>
          </p:cNvPicPr>
          <p:nvPr/>
        </p:nvPicPr>
        <p:blipFill>
          <a:blip r:embed="rId2"/>
          <a:stretch>
            <a:fillRect/>
          </a:stretch>
        </p:blipFill>
        <p:spPr>
          <a:xfrm>
            <a:off x="639097" y="1613412"/>
            <a:ext cx="6000750" cy="4476750"/>
          </a:xfrm>
          <a:prstGeom prst="rect">
            <a:avLst/>
          </a:prstGeom>
        </p:spPr>
      </p:pic>
      <p:sp>
        <p:nvSpPr>
          <p:cNvPr id="7" name="TextBox 6">
            <a:extLst>
              <a:ext uri="{FF2B5EF4-FFF2-40B4-BE49-F238E27FC236}">
                <a16:creationId xmlns:a16="http://schemas.microsoft.com/office/drawing/2014/main" id="{547EEB80-46FD-12E2-75E4-040AE08A3554}"/>
              </a:ext>
            </a:extLst>
          </p:cNvPr>
          <p:cNvSpPr txBox="1"/>
          <p:nvPr/>
        </p:nvSpPr>
        <p:spPr>
          <a:xfrm>
            <a:off x="7000568" y="2035277"/>
            <a:ext cx="4699819" cy="2585323"/>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Figure 2 illustrates the distribution of road traffic crashes by road user category. The findings indicate that matatu‑related crashes account for a substantial proportion of reported accidents, followed by motorcycle‑related crashes, while pedestrian‑related crashes constitute a smaller share of the total crash reports</a:t>
            </a:r>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075920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8553A55-3A50-AFF3-372D-91AF153E5A26}"/>
              </a:ext>
            </a:extLst>
          </p:cNvPr>
          <p:cNvSpPr txBox="1"/>
          <p:nvPr/>
        </p:nvSpPr>
        <p:spPr>
          <a:xfrm>
            <a:off x="964789" y="295438"/>
            <a:ext cx="7235314"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Distribution of Road Accidents by Hour of Day</a:t>
            </a:r>
          </a:p>
        </p:txBody>
      </p:sp>
      <p:pic>
        <p:nvPicPr>
          <p:cNvPr id="7" name="Picture 6">
            <a:extLst>
              <a:ext uri="{FF2B5EF4-FFF2-40B4-BE49-F238E27FC236}">
                <a16:creationId xmlns:a16="http://schemas.microsoft.com/office/drawing/2014/main" id="{2E782BF6-B08B-8005-BD00-4383399693AC}"/>
              </a:ext>
            </a:extLst>
          </p:cNvPr>
          <p:cNvPicPr>
            <a:picLocks noChangeAspect="1"/>
          </p:cNvPicPr>
          <p:nvPr/>
        </p:nvPicPr>
        <p:blipFill>
          <a:blip r:embed="rId2"/>
          <a:stretch>
            <a:fillRect/>
          </a:stretch>
        </p:blipFill>
        <p:spPr>
          <a:xfrm>
            <a:off x="275304" y="1172437"/>
            <a:ext cx="6469625" cy="5132645"/>
          </a:xfrm>
          <a:prstGeom prst="rect">
            <a:avLst/>
          </a:prstGeom>
        </p:spPr>
      </p:pic>
      <p:sp>
        <p:nvSpPr>
          <p:cNvPr id="8" name="TextBox 7">
            <a:extLst>
              <a:ext uri="{FF2B5EF4-FFF2-40B4-BE49-F238E27FC236}">
                <a16:creationId xmlns:a16="http://schemas.microsoft.com/office/drawing/2014/main" id="{D6F86308-207C-28CE-49E2-EF785F4B041C}"/>
              </a:ext>
            </a:extLst>
          </p:cNvPr>
          <p:cNvSpPr txBox="1"/>
          <p:nvPr/>
        </p:nvSpPr>
        <p:spPr>
          <a:xfrm>
            <a:off x="7521677" y="1553497"/>
            <a:ext cx="4395019" cy="3416320"/>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Figure  shows that accident occurrences are relatively </a:t>
            </a:r>
            <a:r>
              <a:rPr lang="en-US" b="1" dirty="0">
                <a:latin typeface="Times New Roman" panose="02020603050405020304" pitchFamily="18" charset="0"/>
                <a:cs typeface="Times New Roman" panose="02020603050405020304" pitchFamily="18" charset="0"/>
              </a:rPr>
              <a:t>low during the late night and early morning hours</a:t>
            </a:r>
            <a:r>
              <a:rPr lang="en-US" dirty="0">
                <a:latin typeface="Times New Roman" panose="02020603050405020304" pitchFamily="18" charset="0"/>
                <a:cs typeface="Times New Roman" panose="02020603050405020304" pitchFamily="18" charset="0"/>
              </a:rPr>
              <a:t> (midnight to about 4:00 a.m.), which may be attributed to reduced traffic volume during these hours. A sharp increase in accidents is observed during the </a:t>
            </a:r>
            <a:r>
              <a:rPr lang="en-US" b="1" dirty="0">
                <a:latin typeface="Times New Roman" panose="02020603050405020304" pitchFamily="18" charset="0"/>
                <a:cs typeface="Times New Roman" panose="02020603050405020304" pitchFamily="18" charset="0"/>
              </a:rPr>
              <a:t>early morning hours between 6:00 a.m. and 8:00 a.m.</a:t>
            </a:r>
            <a:r>
              <a:rPr lang="en-US" dirty="0">
                <a:latin typeface="Times New Roman" panose="02020603050405020304" pitchFamily="18" charset="0"/>
                <a:cs typeface="Times New Roman" panose="02020603050405020304" pitchFamily="18" charset="0"/>
              </a:rPr>
              <a:t>, corresponding to the morning rush hour when traffic volume is high and road users are commuting to work and school.</a:t>
            </a: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40042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8FECA6B-9422-3935-C3F5-2A5DE4359C82}"/>
              </a:ext>
            </a:extLst>
          </p:cNvPr>
          <p:cNvSpPr txBox="1"/>
          <p:nvPr/>
        </p:nvSpPr>
        <p:spPr>
          <a:xfrm>
            <a:off x="797028" y="574510"/>
            <a:ext cx="7561007"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Distribution of Road accidents by day of the week</a:t>
            </a:r>
          </a:p>
        </p:txBody>
      </p:sp>
      <p:sp>
        <p:nvSpPr>
          <p:cNvPr id="9" name="TextBox 8">
            <a:extLst>
              <a:ext uri="{FF2B5EF4-FFF2-40B4-BE49-F238E27FC236}">
                <a16:creationId xmlns:a16="http://schemas.microsoft.com/office/drawing/2014/main" id="{28A9FA4C-E888-EF11-3925-5A8F15923750}"/>
              </a:ext>
            </a:extLst>
          </p:cNvPr>
          <p:cNvSpPr txBox="1"/>
          <p:nvPr/>
        </p:nvSpPr>
        <p:spPr>
          <a:xfrm>
            <a:off x="6921910" y="1641987"/>
            <a:ext cx="5055413" cy="286232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Figure shows that accidents happen more on weekdays than on weekends. From Monday to Friday, accident numbers are high, with Friday having the most accidents. This is likely because there is more traffic during workdays and increased movement toward the end of the week. Accidents drop on Saturday and are lowest on Sunday. This is probably due to less traffic and fewer work and business activities.</a:t>
            </a:r>
          </a:p>
          <a:p>
            <a:endParaRPr lang="en-US" dirty="0"/>
          </a:p>
        </p:txBody>
      </p:sp>
      <p:pic>
        <p:nvPicPr>
          <p:cNvPr id="11" name="Picture 10">
            <a:extLst>
              <a:ext uri="{FF2B5EF4-FFF2-40B4-BE49-F238E27FC236}">
                <a16:creationId xmlns:a16="http://schemas.microsoft.com/office/drawing/2014/main" id="{9E92F528-0B9B-1F5D-A08A-740FC3E3D50D}"/>
              </a:ext>
            </a:extLst>
          </p:cNvPr>
          <p:cNvPicPr>
            <a:picLocks noChangeAspect="1"/>
          </p:cNvPicPr>
          <p:nvPr/>
        </p:nvPicPr>
        <p:blipFill>
          <a:blip r:embed="rId2"/>
          <a:stretch>
            <a:fillRect/>
          </a:stretch>
        </p:blipFill>
        <p:spPr>
          <a:xfrm>
            <a:off x="797028" y="1255149"/>
            <a:ext cx="5438775" cy="4819650"/>
          </a:xfrm>
          <a:prstGeom prst="rect">
            <a:avLst/>
          </a:prstGeom>
        </p:spPr>
      </p:pic>
    </p:spTree>
    <p:extLst>
      <p:ext uri="{BB962C8B-B14F-4D97-AF65-F5344CB8AC3E}">
        <p14:creationId xmlns:p14="http://schemas.microsoft.com/office/powerpoint/2010/main" val="32099829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695A524-4076-63BA-92EC-B6944415B6C2}"/>
              </a:ext>
            </a:extLst>
          </p:cNvPr>
          <p:cNvSpPr txBox="1"/>
          <p:nvPr/>
        </p:nvSpPr>
        <p:spPr>
          <a:xfrm>
            <a:off x="983226" y="304800"/>
            <a:ext cx="7452851"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Distribution of road accidents by month</a:t>
            </a:r>
          </a:p>
        </p:txBody>
      </p:sp>
      <p:sp>
        <p:nvSpPr>
          <p:cNvPr id="7" name="TextBox 6">
            <a:extLst>
              <a:ext uri="{FF2B5EF4-FFF2-40B4-BE49-F238E27FC236}">
                <a16:creationId xmlns:a16="http://schemas.microsoft.com/office/drawing/2014/main" id="{36FB295A-CA2F-DD49-6249-682EFE5152FE}"/>
              </a:ext>
            </a:extLst>
          </p:cNvPr>
          <p:cNvSpPr txBox="1"/>
          <p:nvPr/>
        </p:nvSpPr>
        <p:spPr>
          <a:xfrm>
            <a:off x="6961239" y="1268361"/>
            <a:ext cx="4935793" cy="3970318"/>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Figure </a:t>
            </a:r>
            <a:r>
              <a:rPr lang="en-US" dirty="0">
                <a:latin typeface="Times New Roman" panose="02020603050405020304" pitchFamily="18" charset="0"/>
                <a:cs typeface="Times New Roman" panose="02020603050405020304" pitchFamily="18" charset="0"/>
              </a:rPr>
              <a:t>shows that the monthly distribution of reported road traffic accidents in Kenya. Accident occurrences vary across the year, with noticeable peaks around </a:t>
            </a:r>
            <a:r>
              <a:rPr lang="en-US" b="1" dirty="0">
                <a:latin typeface="Times New Roman" panose="02020603050405020304" pitchFamily="18" charset="0"/>
                <a:cs typeface="Times New Roman" panose="02020603050405020304" pitchFamily="18" charset="0"/>
              </a:rPr>
              <a:t>March</a:t>
            </a:r>
            <a:r>
              <a:rPr lang="en-US" dirty="0">
                <a:latin typeface="Times New Roman" panose="02020603050405020304" pitchFamily="18" charset="0"/>
                <a:cs typeface="Times New Roman" panose="02020603050405020304" pitchFamily="18" charset="0"/>
              </a:rPr>
              <a:t> and </a:t>
            </a:r>
            <a:r>
              <a:rPr lang="en-US" b="1" dirty="0">
                <a:latin typeface="Times New Roman" panose="02020603050405020304" pitchFamily="18" charset="0"/>
                <a:cs typeface="Times New Roman" panose="02020603050405020304" pitchFamily="18" charset="0"/>
              </a:rPr>
              <a:t>July</a:t>
            </a:r>
            <a:r>
              <a:rPr lang="en-US" dirty="0">
                <a:latin typeface="Times New Roman" panose="02020603050405020304" pitchFamily="18" charset="0"/>
                <a:cs typeface="Times New Roman" panose="02020603050405020304" pitchFamily="18" charset="0"/>
              </a:rPr>
              <a:t>, and lower counts towards the end of the year, particularly in </a:t>
            </a:r>
            <a:r>
              <a:rPr lang="en-US" b="1" dirty="0">
                <a:latin typeface="Times New Roman" panose="02020603050405020304" pitchFamily="18" charset="0"/>
                <a:cs typeface="Times New Roman" panose="02020603050405020304" pitchFamily="18" charset="0"/>
              </a:rPr>
              <a:t>December</a:t>
            </a:r>
            <a:r>
              <a:rPr lang="en-US" dirty="0">
                <a:latin typeface="Times New Roman" panose="02020603050405020304" pitchFamily="18" charset="0"/>
                <a:cs typeface="Times New Roman" panose="02020603050405020304" pitchFamily="18" charset="0"/>
              </a:rPr>
              <a:t>. These patterns may be associated with seasonal factors such as increased travel during school terms, long-distance transport activities, weather conditions, and variations in traffic volume. Overall, the figure highlights clear </a:t>
            </a:r>
            <a:r>
              <a:rPr lang="en-US" b="1" dirty="0">
                <a:latin typeface="Times New Roman" panose="02020603050405020304" pitchFamily="18" charset="0"/>
                <a:cs typeface="Times New Roman" panose="02020603050405020304" pitchFamily="18" charset="0"/>
              </a:rPr>
              <a:t>temporal (monthly) variation</a:t>
            </a:r>
            <a:r>
              <a:rPr lang="en-US" dirty="0">
                <a:latin typeface="Times New Roman" panose="02020603050405020304" pitchFamily="18" charset="0"/>
                <a:cs typeface="Times New Roman" panose="02020603050405020304" pitchFamily="18" charset="0"/>
              </a:rPr>
              <a:t> in road traffic accidents in Kenya, underscoring the importance of time-based road safety interventions.</a:t>
            </a:r>
          </a:p>
          <a:p>
            <a:endParaRPr lang="en-US" dirty="0"/>
          </a:p>
        </p:txBody>
      </p:sp>
      <p:pic>
        <p:nvPicPr>
          <p:cNvPr id="9" name="Picture 8">
            <a:extLst>
              <a:ext uri="{FF2B5EF4-FFF2-40B4-BE49-F238E27FC236}">
                <a16:creationId xmlns:a16="http://schemas.microsoft.com/office/drawing/2014/main" id="{623DE893-A67B-E0D1-7003-D48ACA9AF5EC}"/>
              </a:ext>
            </a:extLst>
          </p:cNvPr>
          <p:cNvPicPr>
            <a:picLocks noChangeAspect="1"/>
          </p:cNvPicPr>
          <p:nvPr/>
        </p:nvPicPr>
        <p:blipFill>
          <a:blip r:embed="rId2"/>
          <a:stretch>
            <a:fillRect/>
          </a:stretch>
        </p:blipFill>
        <p:spPr>
          <a:xfrm>
            <a:off x="294968" y="933450"/>
            <a:ext cx="6543675" cy="5619750"/>
          </a:xfrm>
          <a:prstGeom prst="rect">
            <a:avLst/>
          </a:prstGeom>
        </p:spPr>
      </p:pic>
    </p:spTree>
    <p:extLst>
      <p:ext uri="{BB962C8B-B14F-4D97-AF65-F5344CB8AC3E}">
        <p14:creationId xmlns:p14="http://schemas.microsoft.com/office/powerpoint/2010/main" val="28991074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E0FFD78-B061-DFFC-C18A-FABE798A2867}"/>
              </a:ext>
            </a:extLst>
          </p:cNvPr>
          <p:cNvSpPr txBox="1"/>
          <p:nvPr/>
        </p:nvSpPr>
        <p:spPr>
          <a:xfrm>
            <a:off x="884903" y="353961"/>
            <a:ext cx="8062452"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Severity and Risk analysis</a:t>
            </a:r>
          </a:p>
        </p:txBody>
      </p:sp>
      <p:graphicFrame>
        <p:nvGraphicFramePr>
          <p:cNvPr id="3" name="Table 2">
            <a:extLst>
              <a:ext uri="{FF2B5EF4-FFF2-40B4-BE49-F238E27FC236}">
                <a16:creationId xmlns:a16="http://schemas.microsoft.com/office/drawing/2014/main" id="{69C78C45-76E8-9414-3703-33F52E811646}"/>
              </a:ext>
            </a:extLst>
          </p:cNvPr>
          <p:cNvGraphicFramePr>
            <a:graphicFrameLocks noGrp="1"/>
          </p:cNvGraphicFramePr>
          <p:nvPr>
            <p:extLst>
              <p:ext uri="{D42A27DB-BD31-4B8C-83A1-F6EECF244321}">
                <p14:modId xmlns:p14="http://schemas.microsoft.com/office/powerpoint/2010/main" val="1463686651"/>
              </p:ext>
            </p:extLst>
          </p:nvPr>
        </p:nvGraphicFramePr>
        <p:xfrm>
          <a:off x="884903" y="1364220"/>
          <a:ext cx="3795252" cy="2145896"/>
        </p:xfrm>
        <a:graphic>
          <a:graphicData uri="http://schemas.openxmlformats.org/drawingml/2006/table">
            <a:tbl>
              <a:tblPr firstRow="1" firstCol="1" bandRow="1">
                <a:tableStyleId>{5C22544A-7EE6-4342-B048-85BDC9FD1C3A}</a:tableStyleId>
              </a:tblPr>
              <a:tblGrid>
                <a:gridCol w="1265084">
                  <a:extLst>
                    <a:ext uri="{9D8B030D-6E8A-4147-A177-3AD203B41FA5}">
                      <a16:colId xmlns:a16="http://schemas.microsoft.com/office/drawing/2014/main" val="1645396117"/>
                    </a:ext>
                  </a:extLst>
                </a:gridCol>
                <a:gridCol w="1109584">
                  <a:extLst>
                    <a:ext uri="{9D8B030D-6E8A-4147-A177-3AD203B41FA5}">
                      <a16:colId xmlns:a16="http://schemas.microsoft.com/office/drawing/2014/main" val="3993422375"/>
                    </a:ext>
                  </a:extLst>
                </a:gridCol>
                <a:gridCol w="1420584">
                  <a:extLst>
                    <a:ext uri="{9D8B030D-6E8A-4147-A177-3AD203B41FA5}">
                      <a16:colId xmlns:a16="http://schemas.microsoft.com/office/drawing/2014/main" val="2853157838"/>
                    </a:ext>
                  </a:extLst>
                </a:gridCol>
              </a:tblGrid>
              <a:tr h="536474">
                <a:tc>
                  <a:txBody>
                    <a:bodyPr/>
                    <a:lstStyle/>
                    <a:p>
                      <a:pPr marL="0" marR="0">
                        <a:lnSpc>
                          <a:spcPct val="115000"/>
                        </a:lnSpc>
                        <a:spcAft>
                          <a:spcPts val="800"/>
                        </a:spcAft>
                        <a:buNone/>
                      </a:pPr>
                      <a:r>
                        <a:rPr lang="en-US" sz="1200" kern="100">
                          <a:effectLst/>
                        </a:rPr>
                        <a:t>motorcyclist involved</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No</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Yes</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1445193"/>
                  </a:ext>
                </a:extLst>
              </a:tr>
              <a:tr h="536474">
                <a:tc>
                  <a:txBody>
                    <a:bodyPr/>
                    <a:lstStyle/>
                    <a:p>
                      <a:pPr marL="0" marR="0">
                        <a:lnSpc>
                          <a:spcPct val="115000"/>
                        </a:lnSpc>
                        <a:spcAft>
                          <a:spcPts val="800"/>
                        </a:spcAft>
                        <a:buNone/>
                      </a:pPr>
                      <a:r>
                        <a:rPr lang="en-US" sz="1200" kern="100">
                          <a:effectLst/>
                        </a:rPr>
                        <a:t>fatal</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buNone/>
                      </a:pPr>
                      <a:endParaRPr lang="en-US" sz="1200" kern="100">
                        <a:effectLst/>
                        <a:latin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buNone/>
                      </a:pPr>
                      <a:endParaRPr lang="en-US" sz="1200" kern="100" dirty="0">
                        <a:effectLst/>
                        <a:latin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7742638"/>
                  </a:ext>
                </a:extLst>
              </a:tr>
              <a:tr h="536474">
                <a:tc>
                  <a:txBody>
                    <a:bodyPr/>
                    <a:lstStyle/>
                    <a:p>
                      <a:pPr marL="0" marR="0">
                        <a:lnSpc>
                          <a:spcPct val="115000"/>
                        </a:lnSpc>
                        <a:spcAft>
                          <a:spcPts val="800"/>
                        </a:spcAft>
                        <a:buNone/>
                      </a:pPr>
                      <a:r>
                        <a:rPr lang="en-US" sz="1200" kern="100">
                          <a:effectLst/>
                        </a:rPr>
                        <a:t>No</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dirty="0">
                          <a:effectLst/>
                        </a:rPr>
                        <a:t>94.12</a:t>
                      </a:r>
                      <a:endParaRPr lang="en-US"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dirty="0">
                          <a:effectLst/>
                        </a:rPr>
                        <a:t>80.0</a:t>
                      </a:r>
                      <a:endParaRPr lang="en-US"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2050195"/>
                  </a:ext>
                </a:extLst>
              </a:tr>
              <a:tr h="536474">
                <a:tc>
                  <a:txBody>
                    <a:bodyPr/>
                    <a:lstStyle/>
                    <a:p>
                      <a:pPr marL="0" marR="0">
                        <a:lnSpc>
                          <a:spcPct val="115000"/>
                        </a:lnSpc>
                        <a:spcAft>
                          <a:spcPts val="800"/>
                        </a:spcAft>
                        <a:buNone/>
                      </a:pPr>
                      <a:r>
                        <a:rPr lang="en-US" sz="1200" kern="100">
                          <a:effectLst/>
                        </a:rPr>
                        <a:t>Yes</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dirty="0">
                          <a:effectLst/>
                        </a:rPr>
                        <a:t>5.88</a:t>
                      </a:r>
                      <a:endParaRPr lang="en-US"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dirty="0">
                          <a:effectLst/>
                        </a:rPr>
                        <a:t>20.0</a:t>
                      </a:r>
                      <a:endParaRPr lang="en-US"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53272617"/>
                  </a:ext>
                </a:extLst>
              </a:tr>
            </a:tbl>
          </a:graphicData>
        </a:graphic>
      </p:graphicFrame>
      <p:graphicFrame>
        <p:nvGraphicFramePr>
          <p:cNvPr id="4" name="Table 3">
            <a:extLst>
              <a:ext uri="{FF2B5EF4-FFF2-40B4-BE49-F238E27FC236}">
                <a16:creationId xmlns:a16="http://schemas.microsoft.com/office/drawing/2014/main" id="{2FFE7993-78AF-DCEA-044F-DFB8599D82F7}"/>
              </a:ext>
            </a:extLst>
          </p:cNvPr>
          <p:cNvGraphicFramePr>
            <a:graphicFrameLocks noGrp="1"/>
          </p:cNvGraphicFramePr>
          <p:nvPr>
            <p:extLst>
              <p:ext uri="{D42A27DB-BD31-4B8C-83A1-F6EECF244321}">
                <p14:modId xmlns:p14="http://schemas.microsoft.com/office/powerpoint/2010/main" val="1315158224"/>
              </p:ext>
            </p:extLst>
          </p:nvPr>
        </p:nvGraphicFramePr>
        <p:xfrm>
          <a:off x="7020232" y="1342092"/>
          <a:ext cx="4463844" cy="2168024"/>
        </p:xfrm>
        <a:graphic>
          <a:graphicData uri="http://schemas.openxmlformats.org/drawingml/2006/table">
            <a:tbl>
              <a:tblPr firstRow="1" firstCol="1" bandRow="1">
                <a:tableStyleId>{5C22544A-7EE6-4342-B048-85BDC9FD1C3A}</a:tableStyleId>
              </a:tblPr>
              <a:tblGrid>
                <a:gridCol w="1487948">
                  <a:extLst>
                    <a:ext uri="{9D8B030D-6E8A-4147-A177-3AD203B41FA5}">
                      <a16:colId xmlns:a16="http://schemas.microsoft.com/office/drawing/2014/main" val="1498446279"/>
                    </a:ext>
                  </a:extLst>
                </a:gridCol>
                <a:gridCol w="1487948">
                  <a:extLst>
                    <a:ext uri="{9D8B030D-6E8A-4147-A177-3AD203B41FA5}">
                      <a16:colId xmlns:a16="http://schemas.microsoft.com/office/drawing/2014/main" val="4238088881"/>
                    </a:ext>
                  </a:extLst>
                </a:gridCol>
                <a:gridCol w="1487948">
                  <a:extLst>
                    <a:ext uri="{9D8B030D-6E8A-4147-A177-3AD203B41FA5}">
                      <a16:colId xmlns:a16="http://schemas.microsoft.com/office/drawing/2014/main" val="3708931265"/>
                    </a:ext>
                  </a:extLst>
                </a:gridCol>
              </a:tblGrid>
              <a:tr h="542006">
                <a:tc>
                  <a:txBody>
                    <a:bodyPr/>
                    <a:lstStyle/>
                    <a:p>
                      <a:pPr marL="0" marR="0">
                        <a:lnSpc>
                          <a:spcPct val="115000"/>
                        </a:lnSpc>
                        <a:spcAft>
                          <a:spcPts val="800"/>
                        </a:spcAft>
                        <a:buNone/>
                      </a:pPr>
                      <a:r>
                        <a:rPr lang="en-US" sz="1200" kern="100">
                          <a:effectLst/>
                        </a:rPr>
                        <a:t>Contains pedestrians</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No</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Yes</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0960499"/>
                  </a:ext>
                </a:extLst>
              </a:tr>
              <a:tr h="542006">
                <a:tc>
                  <a:txBody>
                    <a:bodyPr/>
                    <a:lstStyle/>
                    <a:p>
                      <a:pPr marL="0" marR="0">
                        <a:lnSpc>
                          <a:spcPct val="115000"/>
                        </a:lnSpc>
                        <a:spcAft>
                          <a:spcPts val="800"/>
                        </a:spcAft>
                        <a:buNone/>
                      </a:pPr>
                      <a:r>
                        <a:rPr lang="en-US" sz="1200" kern="100">
                          <a:effectLst/>
                        </a:rPr>
                        <a:t>fatal</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buNone/>
                      </a:pPr>
                      <a:endParaRPr lang="en-US" sz="1200" kern="100">
                        <a:effectLst/>
                        <a:latin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buNone/>
                      </a:pPr>
                      <a:endParaRPr lang="en-US" sz="1200" kern="100">
                        <a:effectLst/>
                        <a:latin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0471970"/>
                  </a:ext>
                </a:extLst>
              </a:tr>
              <a:tr h="542006">
                <a:tc>
                  <a:txBody>
                    <a:bodyPr/>
                    <a:lstStyle/>
                    <a:p>
                      <a:pPr marL="0" marR="0">
                        <a:lnSpc>
                          <a:spcPct val="115000"/>
                        </a:lnSpc>
                        <a:spcAft>
                          <a:spcPts val="800"/>
                        </a:spcAft>
                        <a:buNone/>
                      </a:pPr>
                      <a:r>
                        <a:rPr lang="en-US" sz="1200" kern="100">
                          <a:effectLst/>
                        </a:rPr>
                        <a:t>No</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94.277822</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65.57377</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9506418"/>
                  </a:ext>
                </a:extLst>
              </a:tr>
              <a:tr h="542006">
                <a:tc>
                  <a:txBody>
                    <a:bodyPr/>
                    <a:lstStyle/>
                    <a:p>
                      <a:pPr marL="0" marR="0">
                        <a:lnSpc>
                          <a:spcPct val="115000"/>
                        </a:lnSpc>
                        <a:spcAft>
                          <a:spcPts val="800"/>
                        </a:spcAft>
                        <a:buNone/>
                      </a:pPr>
                      <a:r>
                        <a:rPr lang="en-US" sz="1200" kern="100" dirty="0">
                          <a:effectLst/>
                        </a:rPr>
                        <a:t>Yes</a:t>
                      </a:r>
                      <a:endParaRPr lang="en-US"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5.722178</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dirty="0">
                          <a:effectLst/>
                        </a:rPr>
                        <a:t>34.42623</a:t>
                      </a:r>
                      <a:endParaRPr lang="en-US"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5896899"/>
                  </a:ext>
                </a:extLst>
              </a:tr>
            </a:tbl>
          </a:graphicData>
        </a:graphic>
      </p:graphicFrame>
      <p:graphicFrame>
        <p:nvGraphicFramePr>
          <p:cNvPr id="5" name="Table 4">
            <a:extLst>
              <a:ext uri="{FF2B5EF4-FFF2-40B4-BE49-F238E27FC236}">
                <a16:creationId xmlns:a16="http://schemas.microsoft.com/office/drawing/2014/main" id="{E8A34B6E-3804-8062-4250-41BAC40FA5F6}"/>
              </a:ext>
            </a:extLst>
          </p:cNvPr>
          <p:cNvGraphicFramePr>
            <a:graphicFrameLocks noGrp="1"/>
          </p:cNvGraphicFramePr>
          <p:nvPr>
            <p:extLst>
              <p:ext uri="{D42A27DB-BD31-4B8C-83A1-F6EECF244321}">
                <p14:modId xmlns:p14="http://schemas.microsoft.com/office/powerpoint/2010/main" val="3291126528"/>
              </p:ext>
            </p:extLst>
          </p:nvPr>
        </p:nvGraphicFramePr>
        <p:xfrm>
          <a:off x="4143222" y="4387650"/>
          <a:ext cx="3905556" cy="2212260"/>
        </p:xfrm>
        <a:graphic>
          <a:graphicData uri="http://schemas.openxmlformats.org/drawingml/2006/table">
            <a:tbl>
              <a:tblPr firstRow="1" firstCol="1" bandRow="1">
                <a:tableStyleId>{5C22544A-7EE6-4342-B048-85BDC9FD1C3A}</a:tableStyleId>
              </a:tblPr>
              <a:tblGrid>
                <a:gridCol w="1301852">
                  <a:extLst>
                    <a:ext uri="{9D8B030D-6E8A-4147-A177-3AD203B41FA5}">
                      <a16:colId xmlns:a16="http://schemas.microsoft.com/office/drawing/2014/main" val="3713819580"/>
                    </a:ext>
                  </a:extLst>
                </a:gridCol>
                <a:gridCol w="1301852">
                  <a:extLst>
                    <a:ext uri="{9D8B030D-6E8A-4147-A177-3AD203B41FA5}">
                      <a16:colId xmlns:a16="http://schemas.microsoft.com/office/drawing/2014/main" val="1524022690"/>
                    </a:ext>
                  </a:extLst>
                </a:gridCol>
                <a:gridCol w="1301852">
                  <a:extLst>
                    <a:ext uri="{9D8B030D-6E8A-4147-A177-3AD203B41FA5}">
                      <a16:colId xmlns:a16="http://schemas.microsoft.com/office/drawing/2014/main" val="4241564024"/>
                    </a:ext>
                  </a:extLst>
                </a:gridCol>
              </a:tblGrid>
              <a:tr h="511503">
                <a:tc>
                  <a:txBody>
                    <a:bodyPr/>
                    <a:lstStyle/>
                    <a:p>
                      <a:pPr marL="0" marR="0">
                        <a:lnSpc>
                          <a:spcPct val="115000"/>
                        </a:lnSpc>
                        <a:spcAft>
                          <a:spcPts val="800"/>
                        </a:spcAft>
                        <a:buNone/>
                      </a:pPr>
                      <a:r>
                        <a:rPr lang="en-US" sz="1200" kern="100">
                          <a:effectLst/>
                        </a:rPr>
                        <a:t>contains_matatu_words</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0</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dirty="0">
                          <a:effectLst/>
                        </a:rPr>
                        <a:t>1</a:t>
                      </a:r>
                      <a:endParaRPr lang="en-US"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2488260"/>
                  </a:ext>
                </a:extLst>
              </a:tr>
              <a:tr h="566919">
                <a:tc>
                  <a:txBody>
                    <a:bodyPr/>
                    <a:lstStyle/>
                    <a:p>
                      <a:pPr marL="0" marR="0">
                        <a:lnSpc>
                          <a:spcPct val="115000"/>
                        </a:lnSpc>
                        <a:spcAft>
                          <a:spcPts val="800"/>
                        </a:spcAft>
                        <a:buNone/>
                      </a:pPr>
                      <a:r>
                        <a:rPr lang="en-US" sz="1200" kern="100">
                          <a:effectLst/>
                        </a:rPr>
                        <a:t>contains_fatality_words</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buNone/>
                      </a:pPr>
                      <a:endParaRPr lang="en-US" sz="1200" kern="100">
                        <a:effectLst/>
                        <a:latin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buNone/>
                      </a:pPr>
                      <a:endParaRPr lang="en-US" sz="1200" kern="100">
                        <a:effectLst/>
                        <a:latin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79701757"/>
                  </a:ext>
                </a:extLst>
              </a:tr>
              <a:tr h="566919">
                <a:tc>
                  <a:txBody>
                    <a:bodyPr/>
                    <a:lstStyle/>
                    <a:p>
                      <a:pPr marL="0" marR="0">
                        <a:lnSpc>
                          <a:spcPct val="115000"/>
                        </a:lnSpc>
                        <a:spcAft>
                          <a:spcPts val="800"/>
                        </a:spcAft>
                        <a:buNone/>
                      </a:pPr>
                      <a:r>
                        <a:rPr lang="en-US" sz="1200" kern="100">
                          <a:effectLst/>
                        </a:rPr>
                        <a:t>0</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93.629505</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93.301435</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07531370"/>
                  </a:ext>
                </a:extLst>
              </a:tr>
              <a:tr h="566919">
                <a:tc>
                  <a:txBody>
                    <a:bodyPr/>
                    <a:lstStyle/>
                    <a:p>
                      <a:pPr marL="0" marR="0">
                        <a:lnSpc>
                          <a:spcPct val="115000"/>
                        </a:lnSpc>
                        <a:spcAft>
                          <a:spcPts val="800"/>
                        </a:spcAft>
                        <a:buNone/>
                      </a:pPr>
                      <a:r>
                        <a:rPr lang="en-US" sz="1200" kern="100">
                          <a:effectLst/>
                        </a:rPr>
                        <a:t>1</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a:effectLst/>
                        </a:rPr>
                        <a:t>6.370495</a:t>
                      </a:r>
                      <a:endParaRPr lang="en-US" sz="1200" kern="10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nSpc>
                          <a:spcPct val="115000"/>
                        </a:lnSpc>
                        <a:spcAft>
                          <a:spcPts val="800"/>
                        </a:spcAft>
                        <a:buNone/>
                      </a:pPr>
                      <a:r>
                        <a:rPr lang="en-US" sz="1200" kern="100" dirty="0">
                          <a:effectLst/>
                        </a:rPr>
                        <a:t>6.698565</a:t>
                      </a:r>
                      <a:endParaRPr lang="en-US" sz="1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78661931"/>
                  </a:ext>
                </a:extLst>
              </a:tr>
            </a:tbl>
          </a:graphicData>
        </a:graphic>
      </p:graphicFrame>
      <p:sp>
        <p:nvSpPr>
          <p:cNvPr id="8" name="TextBox 7">
            <a:extLst>
              <a:ext uri="{FF2B5EF4-FFF2-40B4-BE49-F238E27FC236}">
                <a16:creationId xmlns:a16="http://schemas.microsoft.com/office/drawing/2014/main" id="{F849DA9F-19BC-E1AC-B45F-345ECEB60420}"/>
              </a:ext>
            </a:extLst>
          </p:cNvPr>
          <p:cNvSpPr txBox="1"/>
          <p:nvPr/>
        </p:nvSpPr>
        <p:spPr>
          <a:xfrm>
            <a:off x="884903" y="983226"/>
            <a:ext cx="3795252"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Fatality vs Motorcyclists</a:t>
            </a:r>
          </a:p>
        </p:txBody>
      </p:sp>
      <p:sp>
        <p:nvSpPr>
          <p:cNvPr id="9" name="TextBox 8">
            <a:extLst>
              <a:ext uri="{FF2B5EF4-FFF2-40B4-BE49-F238E27FC236}">
                <a16:creationId xmlns:a16="http://schemas.microsoft.com/office/drawing/2014/main" id="{6BA7ABDF-E06A-38EF-536B-76E9422AF12D}"/>
              </a:ext>
            </a:extLst>
          </p:cNvPr>
          <p:cNvSpPr txBox="1"/>
          <p:nvPr/>
        </p:nvSpPr>
        <p:spPr>
          <a:xfrm>
            <a:off x="7020232" y="864336"/>
            <a:ext cx="4611328"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Fatality vs Pedestrians</a:t>
            </a:r>
          </a:p>
        </p:txBody>
      </p:sp>
      <p:sp>
        <p:nvSpPr>
          <p:cNvPr id="10" name="TextBox 9">
            <a:extLst>
              <a:ext uri="{FF2B5EF4-FFF2-40B4-BE49-F238E27FC236}">
                <a16:creationId xmlns:a16="http://schemas.microsoft.com/office/drawing/2014/main" id="{DCE3ADC9-6E6E-00B3-9EF8-691BF84101F3}"/>
              </a:ext>
            </a:extLst>
          </p:cNvPr>
          <p:cNvSpPr txBox="1"/>
          <p:nvPr/>
        </p:nvSpPr>
        <p:spPr>
          <a:xfrm>
            <a:off x="4143222" y="3991897"/>
            <a:ext cx="3905556"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Fatality vs Matatu</a:t>
            </a:r>
          </a:p>
        </p:txBody>
      </p:sp>
    </p:spTree>
    <p:extLst>
      <p:ext uri="{BB962C8B-B14F-4D97-AF65-F5344CB8AC3E}">
        <p14:creationId xmlns:p14="http://schemas.microsoft.com/office/powerpoint/2010/main" val="3996238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E54E689-0E82-C9C4-22E1-06CF0622E40D}"/>
              </a:ext>
            </a:extLst>
          </p:cNvPr>
          <p:cNvSpPr txBox="1"/>
          <p:nvPr/>
        </p:nvSpPr>
        <p:spPr>
          <a:xfrm>
            <a:off x="895207" y="282975"/>
            <a:ext cx="3897858"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Spatial Distribution</a:t>
            </a:r>
          </a:p>
        </p:txBody>
      </p:sp>
      <p:pic>
        <p:nvPicPr>
          <p:cNvPr id="3" name="Picture 2">
            <a:extLst>
              <a:ext uri="{FF2B5EF4-FFF2-40B4-BE49-F238E27FC236}">
                <a16:creationId xmlns:a16="http://schemas.microsoft.com/office/drawing/2014/main" id="{BCF8523C-2C79-E817-2DA4-DB3957172800}"/>
              </a:ext>
            </a:extLst>
          </p:cNvPr>
          <p:cNvPicPr>
            <a:picLocks noChangeAspect="1"/>
          </p:cNvPicPr>
          <p:nvPr/>
        </p:nvPicPr>
        <p:blipFill>
          <a:blip r:embed="rId2"/>
          <a:stretch>
            <a:fillRect/>
          </a:stretch>
        </p:blipFill>
        <p:spPr>
          <a:xfrm>
            <a:off x="714335" y="812743"/>
            <a:ext cx="4661532" cy="6045257"/>
          </a:xfrm>
          <a:prstGeom prst="rect">
            <a:avLst/>
          </a:prstGeom>
        </p:spPr>
      </p:pic>
      <p:pic>
        <p:nvPicPr>
          <p:cNvPr id="5" name="Picture 4">
            <a:extLst>
              <a:ext uri="{FF2B5EF4-FFF2-40B4-BE49-F238E27FC236}">
                <a16:creationId xmlns:a16="http://schemas.microsoft.com/office/drawing/2014/main" id="{493C399D-7651-DB71-7C7D-CC10C649ED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4584" y="1114528"/>
            <a:ext cx="5079860" cy="5688012"/>
          </a:xfrm>
          <a:prstGeom prst="rect">
            <a:avLst/>
          </a:prstGeom>
        </p:spPr>
      </p:pic>
      <p:sp>
        <p:nvSpPr>
          <p:cNvPr id="6" name="TextBox 5">
            <a:extLst>
              <a:ext uri="{FF2B5EF4-FFF2-40B4-BE49-F238E27FC236}">
                <a16:creationId xmlns:a16="http://schemas.microsoft.com/office/drawing/2014/main" id="{6D7F9824-B764-CA87-91FF-DAF83D2C2BA8}"/>
              </a:ext>
            </a:extLst>
          </p:cNvPr>
          <p:cNvSpPr txBox="1"/>
          <p:nvPr/>
        </p:nvSpPr>
        <p:spPr>
          <a:xfrm>
            <a:off x="6096000" y="381837"/>
            <a:ext cx="5509846"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Heat map of Road accidents in Kenya</a:t>
            </a:r>
          </a:p>
        </p:txBody>
      </p:sp>
    </p:spTree>
    <p:extLst>
      <p:ext uri="{BB962C8B-B14F-4D97-AF65-F5344CB8AC3E}">
        <p14:creationId xmlns:p14="http://schemas.microsoft.com/office/powerpoint/2010/main" val="25154129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81116B9-27AB-2DFC-7077-31AFEBCD327A}"/>
              </a:ext>
            </a:extLst>
          </p:cNvPr>
          <p:cNvSpPr txBox="1"/>
          <p:nvPr/>
        </p:nvSpPr>
        <p:spPr>
          <a:xfrm>
            <a:off x="786581" y="344129"/>
            <a:ext cx="10333703"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Spatial Analysis Results</a:t>
            </a:r>
          </a:p>
        </p:txBody>
      </p:sp>
      <p:sp>
        <p:nvSpPr>
          <p:cNvPr id="3" name="TextBox 2">
            <a:extLst>
              <a:ext uri="{FF2B5EF4-FFF2-40B4-BE49-F238E27FC236}">
                <a16:creationId xmlns:a16="http://schemas.microsoft.com/office/drawing/2014/main" id="{8FB487EC-06A0-FD46-51E6-2C32E8B0973C}"/>
              </a:ext>
            </a:extLst>
          </p:cNvPr>
          <p:cNvSpPr txBox="1"/>
          <p:nvPr/>
        </p:nvSpPr>
        <p:spPr>
          <a:xfrm>
            <a:off x="786581" y="1101213"/>
            <a:ext cx="9763432" cy="511531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Most accidents cluster around major cities (Nairobi, Mombasa, Kisumu) due to high traffic volumes and interactions between road users.</a:t>
            </a:r>
          </a:p>
          <a:p>
            <a:pPr marL="285750" indent="-28575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Primary hotspots: Nairobi, Kiambu, Machakos, Mombasa</a:t>
            </a:r>
          </a:p>
          <a:p>
            <a:pPr marL="285750" indent="-28575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secondary hotspots along major highways (Mombasa–Nairobi, Nairobi–Eldoret).</a:t>
            </a:r>
          </a:p>
          <a:p>
            <a:pPr marL="285750" indent="-28575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Northern/northeastern regions (Turkana, </a:t>
            </a:r>
            <a:r>
              <a:rPr lang="en-US" sz="2000" dirty="0" err="1">
                <a:latin typeface="Times New Roman" panose="02020603050405020304" pitchFamily="18" charset="0"/>
                <a:cs typeface="Times New Roman" panose="02020603050405020304" pitchFamily="18" charset="0"/>
              </a:rPr>
              <a:t>Marsabit</a:t>
            </a:r>
            <a:r>
              <a:rPr lang="en-US" sz="2000" dirty="0">
                <a:latin typeface="Times New Roman" panose="02020603050405020304" pitchFamily="18" charset="0"/>
                <a:cs typeface="Times New Roman" panose="02020603050405020304" pitchFamily="18" charset="0"/>
              </a:rPr>
              <a:t>) have fewer accidents due to low population and traffic.</a:t>
            </a:r>
          </a:p>
          <a:p>
            <a:pPr marL="285750" indent="-28575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Accidents concentrate in high-traffic areas; pedestrians, public transport, and private cars are most affected. Suggests need for traffic management, pedestrian crossings, and speed control.</a:t>
            </a:r>
          </a:p>
          <a:p>
            <a:pPr marL="285750" indent="-28575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Major highways and intersections are secondary hotspots, with accidents linked to higher speeds, dense traffic, and complex road designs.</a:t>
            </a:r>
            <a:endParaRPr lang="en-US"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213240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A38E33-C82A-8466-62E9-1987AF2A5DEC}"/>
              </a:ext>
            </a:extLst>
          </p:cNvPr>
          <p:cNvSpPr txBox="1"/>
          <p:nvPr/>
        </p:nvSpPr>
        <p:spPr>
          <a:xfrm>
            <a:off x="589935" y="314632"/>
            <a:ext cx="10235381"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Correlation Analysis</a:t>
            </a:r>
          </a:p>
        </p:txBody>
      </p:sp>
      <p:pic>
        <p:nvPicPr>
          <p:cNvPr id="3" name="Picture 2">
            <a:extLst>
              <a:ext uri="{FF2B5EF4-FFF2-40B4-BE49-F238E27FC236}">
                <a16:creationId xmlns:a16="http://schemas.microsoft.com/office/drawing/2014/main" id="{D8D1EDCA-774A-A32A-118B-189F0768DD28}"/>
              </a:ext>
            </a:extLst>
          </p:cNvPr>
          <p:cNvPicPr>
            <a:picLocks noChangeAspect="1"/>
          </p:cNvPicPr>
          <p:nvPr/>
        </p:nvPicPr>
        <p:blipFill>
          <a:blip r:embed="rId2"/>
          <a:stretch>
            <a:fillRect/>
          </a:stretch>
        </p:blipFill>
        <p:spPr>
          <a:xfrm>
            <a:off x="0" y="1084681"/>
            <a:ext cx="6325040" cy="5537345"/>
          </a:xfrm>
          <a:prstGeom prst="rect">
            <a:avLst/>
          </a:prstGeom>
        </p:spPr>
      </p:pic>
      <p:sp>
        <p:nvSpPr>
          <p:cNvPr id="4" name="TextBox 3">
            <a:extLst>
              <a:ext uri="{FF2B5EF4-FFF2-40B4-BE49-F238E27FC236}">
                <a16:creationId xmlns:a16="http://schemas.microsoft.com/office/drawing/2014/main" id="{967A6914-56DD-1727-874B-FBA844672246}"/>
              </a:ext>
            </a:extLst>
          </p:cNvPr>
          <p:cNvSpPr txBox="1"/>
          <p:nvPr/>
        </p:nvSpPr>
        <p:spPr>
          <a:xfrm>
            <a:off x="6715432" y="2743200"/>
            <a:ext cx="5043949" cy="923330"/>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Times New Roman" panose="02020603050405020304" pitchFamily="18" charset="0"/>
                <a:cs typeface="Times New Roman" panose="02020603050405020304" pitchFamily="18" charset="0"/>
              </a:rPr>
              <a:t>Overall:</a:t>
            </a:r>
            <a:r>
              <a:rPr lang="en-US" dirty="0">
                <a:latin typeface="Times New Roman" panose="02020603050405020304" pitchFamily="18" charset="0"/>
                <a:cs typeface="Times New Roman" panose="02020603050405020304" pitchFamily="18" charset="0"/>
              </a:rPr>
              <a:t> Most correlations are very weak → factors largely independent.</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15195210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1588F2-0919-B382-7746-242D93AE0A5A}"/>
              </a:ext>
            </a:extLst>
          </p:cNvPr>
          <p:cNvSpPr txBox="1"/>
          <p:nvPr/>
        </p:nvSpPr>
        <p:spPr>
          <a:xfrm>
            <a:off x="1376516" y="511277"/>
            <a:ext cx="7777316"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Logistic Regression Results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475046A-7754-EB9F-E079-B90025DF0338}"/>
                  </a:ext>
                </a:extLst>
              </p:cNvPr>
              <p:cNvSpPr txBox="1"/>
              <p:nvPr/>
            </p:nvSpPr>
            <p:spPr>
              <a:xfrm>
                <a:off x="147483" y="1229033"/>
                <a:ext cx="12044517" cy="5140318"/>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Null Hypothesis (H₀)</a:t>
                </a:r>
              </a:p>
              <a:p>
                <a:r>
                  <a:rPr lang="en-US" dirty="0">
                    <a:latin typeface="Times New Roman" panose="02020603050405020304" pitchFamily="18" charset="0"/>
                    <a:cs typeface="Times New Roman" panose="02020603050405020304" pitchFamily="18" charset="0"/>
                  </a:rPr>
                  <a:t>Road user type, spatial location, and temporal factors have no significant effect on the probability that a reported road crash is fatal.</a:t>
                </a:r>
              </a:p>
              <a:p>
                <a:r>
                  <a:rPr lang="en-US" dirty="0">
                    <a:latin typeface="Times New Roman" panose="02020603050405020304" pitchFamily="18" charset="0"/>
                    <a:cs typeface="Times New Roman" panose="02020603050405020304" pitchFamily="18" charset="0"/>
                  </a:rPr>
                  <a:t> </a:t>
                </a:r>
              </a:p>
              <a:p>
                <a:r>
                  <a:rPr lang="en-US" b="1" dirty="0">
                    <a:latin typeface="Times New Roman" panose="02020603050405020304" pitchFamily="18" charset="0"/>
                    <a:cs typeface="Times New Roman" panose="02020603050405020304" pitchFamily="18" charset="0"/>
                  </a:rPr>
                  <a:t>Alternative Hypothesis (H₁)</a:t>
                </a:r>
              </a:p>
              <a:p>
                <a:r>
                  <a:rPr lang="en-US" dirty="0">
                    <a:latin typeface="Times New Roman" panose="02020603050405020304" pitchFamily="18" charset="0"/>
                    <a:cs typeface="Times New Roman" panose="02020603050405020304" pitchFamily="18" charset="0"/>
                  </a:rPr>
                  <a:t>Road user type, spatial location, and temporal factors significantly influence the probability that a reported road crash results in a fatal outcome.</a:t>
                </a:r>
              </a:p>
              <a:p>
                <a:endParaRPr lang="en-US"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Regression Model</a:t>
                </a:r>
              </a:p>
              <a:p>
                <a:endParaRPr lang="en-US" dirty="0">
                  <a:latin typeface="Times New Roman" panose="02020603050405020304" pitchFamily="18"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func>
                        <m:funcPr>
                          <m:ctrlPr>
                            <a:rPr lang="en-US" b="0" i="1" smtClean="0">
                              <a:latin typeface="Cambria Math" panose="02040503050406030204" pitchFamily="18" charset="0"/>
                              <a:cs typeface="Times New Roman" panose="02020603050405020304" pitchFamily="18" charset="0"/>
                            </a:rPr>
                          </m:ctrlPr>
                        </m:funcPr>
                        <m:fName>
                          <m:r>
                            <m:rPr>
                              <m:sty m:val="p"/>
                            </m:rPr>
                            <a:rPr lang="en-US" b="0" i="0" smtClean="0">
                              <a:latin typeface="Cambria Math" panose="02040503050406030204" pitchFamily="18" charset="0"/>
                              <a:cs typeface="Times New Roman" panose="02020603050405020304" pitchFamily="18" charset="0"/>
                            </a:rPr>
                            <m:t>log</m:t>
                          </m:r>
                        </m:fName>
                        <m:e>
                          <m:d>
                            <m:dPr>
                              <m:ctrlPr>
                                <a:rPr lang="en-US" b="0" i="1" smtClean="0">
                                  <a:latin typeface="Cambria Math" panose="02040503050406030204" pitchFamily="18" charset="0"/>
                                  <a:cs typeface="Times New Roman" panose="02020603050405020304" pitchFamily="18" charset="0"/>
                                </a:rPr>
                              </m:ctrlPr>
                            </m:dPr>
                            <m:e>
                              <m:f>
                                <m:fPr>
                                  <m:ctrlPr>
                                    <a:rPr lang="en-US" b="0" i="1" smtClean="0">
                                      <a:latin typeface="Cambria Math" panose="02040503050406030204" pitchFamily="18" charset="0"/>
                                      <a:cs typeface="Times New Roman" panose="02020603050405020304" pitchFamily="18" charset="0"/>
                                    </a:rPr>
                                  </m:ctrlPr>
                                </m:fPr>
                                <m:num>
                                  <m:r>
                                    <a:rPr lang="en-US" i="1">
                                      <a:latin typeface="Cambria Math" panose="02040503050406030204" pitchFamily="18" charset="0"/>
                                      <a:cs typeface="Times New Roman" panose="02020603050405020304" pitchFamily="18" charset="0"/>
                                    </a:rPr>
                                    <m:t>𝑃</m:t>
                                  </m:r>
                                  <m:d>
                                    <m:dPr>
                                      <m:ctrlPr>
                                        <a:rPr lang="en-US" i="1">
                                          <a:latin typeface="Cambria Math" panose="02040503050406030204" pitchFamily="18" charset="0"/>
                                          <a:cs typeface="Times New Roman" panose="02020603050405020304" pitchFamily="18" charset="0"/>
                                        </a:rPr>
                                      </m:ctrlPr>
                                    </m:dPr>
                                    <m:e>
                                      <m:r>
                                        <a:rPr lang="en-US" i="1">
                                          <a:latin typeface="Cambria Math" panose="02040503050406030204" pitchFamily="18" charset="0"/>
                                          <a:cs typeface="Times New Roman" panose="02020603050405020304" pitchFamily="18" charset="0"/>
                                        </a:rPr>
                                        <m:t>𝐹𝑎𝑡𝑎𝑙</m:t>
                                      </m:r>
                                      <m:r>
                                        <a:rPr lang="en-US" i="1">
                                          <a:latin typeface="Cambria Math" panose="02040503050406030204" pitchFamily="18" charset="0"/>
                                          <a:cs typeface="Times New Roman" panose="02020603050405020304" pitchFamily="18" charset="0"/>
                                        </a:rPr>
                                        <m:t>=1</m:t>
                                      </m:r>
                                    </m:e>
                                  </m:d>
                                </m:num>
                                <m:den>
                                  <m:r>
                                    <a:rPr lang="en-US" b="0" i="1" smtClean="0">
                                      <a:latin typeface="Cambria Math" panose="02040503050406030204" pitchFamily="18" charset="0"/>
                                      <a:cs typeface="Times New Roman" panose="02020603050405020304" pitchFamily="18" charset="0"/>
                                    </a:rPr>
                                    <m:t>1−</m:t>
                                  </m:r>
                                  <m:r>
                                    <a:rPr lang="en-US" b="0" i="1" smtClean="0">
                                      <a:latin typeface="Cambria Math" panose="02040503050406030204" pitchFamily="18" charset="0"/>
                                      <a:cs typeface="Times New Roman" panose="02020603050405020304" pitchFamily="18" charset="0"/>
                                    </a:rPr>
                                    <m:t>𝑃</m:t>
                                  </m:r>
                                  <m:r>
                                    <a:rPr lang="en-US" b="0" i="1" smtClean="0">
                                      <a:latin typeface="Cambria Math" panose="02040503050406030204" pitchFamily="18" charset="0"/>
                                      <a:cs typeface="Times New Roman" panose="02020603050405020304" pitchFamily="18" charset="0"/>
                                    </a:rPr>
                                    <m:t> </m:t>
                                  </m:r>
                                  <m:d>
                                    <m:dPr>
                                      <m:ctrlPr>
                                        <a:rPr lang="en-US" b="0" i="1" smtClean="0">
                                          <a:latin typeface="Cambria Math" panose="02040503050406030204" pitchFamily="18" charset="0"/>
                                          <a:cs typeface="Times New Roman" panose="02020603050405020304" pitchFamily="18" charset="0"/>
                                        </a:rPr>
                                      </m:ctrlPr>
                                    </m:dPr>
                                    <m:e>
                                      <m:r>
                                        <a:rPr lang="en-US" b="0" i="1" smtClean="0">
                                          <a:latin typeface="Cambria Math" panose="02040503050406030204" pitchFamily="18" charset="0"/>
                                          <a:cs typeface="Times New Roman" panose="02020603050405020304" pitchFamily="18" charset="0"/>
                                        </a:rPr>
                                        <m:t>𝐹𝑎𝑡𝑎𝑙</m:t>
                                      </m:r>
                                      <m:r>
                                        <a:rPr lang="en-US" b="0" i="1" smtClean="0">
                                          <a:latin typeface="Cambria Math" panose="02040503050406030204" pitchFamily="18" charset="0"/>
                                          <a:cs typeface="Times New Roman" panose="02020603050405020304" pitchFamily="18" charset="0"/>
                                        </a:rPr>
                                        <m:t>=1</m:t>
                                      </m:r>
                                    </m:e>
                                  </m:d>
                                </m:den>
                              </m:f>
                            </m:e>
                          </m:d>
                        </m:e>
                      </m:func>
                      <m:r>
                        <a:rPr lang="en-US" b="0" i="1" smtClean="0">
                          <a:latin typeface="Cambria Math" panose="02040503050406030204" pitchFamily="18" charset="0"/>
                          <a:cs typeface="Times New Roman" panose="02020603050405020304" pitchFamily="18" charset="0"/>
                        </a:rPr>
                        <m:t>=22.27+2.17</m:t>
                      </m:r>
                      <m:d>
                        <m:dPr>
                          <m:ctrlPr>
                            <a:rPr lang="en-US" b="0" i="1" smtClean="0">
                              <a:latin typeface="Cambria Math" panose="02040503050406030204" pitchFamily="18" charset="0"/>
                              <a:cs typeface="Times New Roman" panose="02020603050405020304" pitchFamily="18" charset="0"/>
                            </a:rPr>
                          </m:ctrlPr>
                        </m:dPr>
                        <m:e>
                          <m:r>
                            <a:rPr lang="en-US" b="0" i="1" smtClean="0">
                              <a:latin typeface="Cambria Math" panose="02040503050406030204" pitchFamily="18" charset="0"/>
                              <a:cs typeface="Times New Roman" panose="02020603050405020304" pitchFamily="18" charset="0"/>
                            </a:rPr>
                            <m:t>𝑝𝑒𝑑𝑒𝑠𝑡𝑟𝑖𝑎𝑛</m:t>
                          </m:r>
                        </m:e>
                      </m:d>
                      <m:r>
                        <a:rPr lang="en-US" b="0" i="1" smtClean="0">
                          <a:latin typeface="Cambria Math" panose="02040503050406030204" pitchFamily="18" charset="0"/>
                          <a:cs typeface="Times New Roman" panose="02020603050405020304" pitchFamily="18" charset="0"/>
                        </a:rPr>
                        <m:t>+1.39</m:t>
                      </m:r>
                      <m:d>
                        <m:dPr>
                          <m:ctrlPr>
                            <a:rPr lang="en-US" b="0" i="1" smtClean="0">
                              <a:latin typeface="Cambria Math" panose="02040503050406030204" pitchFamily="18" charset="0"/>
                              <a:cs typeface="Times New Roman" panose="02020603050405020304" pitchFamily="18" charset="0"/>
                            </a:rPr>
                          </m:ctrlPr>
                        </m:dPr>
                        <m:e>
                          <m:r>
                            <a:rPr lang="en-US" b="0" i="1" smtClean="0">
                              <a:latin typeface="Cambria Math" panose="02040503050406030204" pitchFamily="18" charset="0"/>
                              <a:cs typeface="Times New Roman" panose="02020603050405020304" pitchFamily="18" charset="0"/>
                            </a:rPr>
                            <m:t>𝑚𝑜𝑡𝑜𝑟𝑐𝑦𝑐𝑙𝑖𝑠𝑡</m:t>
                          </m:r>
                        </m:e>
                      </m:d>
                      <m:r>
                        <a:rPr lang="en-US" b="0" i="1" smtClean="0">
                          <a:latin typeface="Cambria Math" panose="02040503050406030204" pitchFamily="18" charset="0"/>
                          <a:cs typeface="Times New Roman" panose="02020603050405020304" pitchFamily="18" charset="0"/>
                        </a:rPr>
                        <m:t>−0.01</m:t>
                      </m:r>
                      <m:d>
                        <m:dPr>
                          <m:ctrlPr>
                            <a:rPr lang="en-US" b="0" i="1" smtClean="0">
                              <a:latin typeface="Cambria Math" panose="02040503050406030204" pitchFamily="18" charset="0"/>
                              <a:cs typeface="Times New Roman" panose="02020603050405020304" pitchFamily="18" charset="0"/>
                            </a:rPr>
                          </m:ctrlPr>
                        </m:dPr>
                        <m:e>
                          <m:r>
                            <a:rPr lang="en-US" b="0" i="1" smtClean="0">
                              <a:latin typeface="Cambria Math" panose="02040503050406030204" pitchFamily="18" charset="0"/>
                              <a:cs typeface="Times New Roman" panose="02020603050405020304" pitchFamily="18" charset="0"/>
                            </a:rPr>
                            <m:t>𝑚𝑎𝑡𝑎𝑡𝑢</m:t>
                          </m:r>
                        </m:e>
                      </m:d>
                      <m:r>
                        <a:rPr lang="en-US" b="0" i="1" smtClean="0">
                          <a:latin typeface="Cambria Math" panose="02040503050406030204" pitchFamily="18" charset="0"/>
                          <a:cs typeface="Times New Roman" panose="02020603050405020304" pitchFamily="18" charset="0"/>
                        </a:rPr>
                        <m:t>−0.48</m:t>
                      </m:r>
                      <m:d>
                        <m:dPr>
                          <m:ctrlPr>
                            <a:rPr lang="en-US" b="0" i="1" smtClean="0">
                              <a:latin typeface="Cambria Math" panose="02040503050406030204" pitchFamily="18" charset="0"/>
                              <a:cs typeface="Times New Roman" panose="02020603050405020304" pitchFamily="18" charset="0"/>
                            </a:rPr>
                          </m:ctrlPr>
                        </m:dPr>
                        <m:e>
                          <m:r>
                            <a:rPr lang="en-US" b="0" i="1" smtClean="0">
                              <a:latin typeface="Cambria Math" panose="02040503050406030204" pitchFamily="18" charset="0"/>
                              <a:cs typeface="Times New Roman" panose="02020603050405020304" pitchFamily="18" charset="0"/>
                            </a:rPr>
                            <m:t>𝑙𝑎𝑡𝑖𝑡𝑢𝑑𝑒</m:t>
                          </m:r>
                        </m:e>
                      </m:d>
                      <m:r>
                        <a:rPr lang="en-US" b="0" i="1" smtClean="0">
                          <a:latin typeface="Cambria Math" panose="02040503050406030204" pitchFamily="18" charset="0"/>
                          <a:cs typeface="Times New Roman" panose="02020603050405020304" pitchFamily="18" charset="0"/>
                        </a:rPr>
                        <m:t>−0.7</m:t>
                      </m:r>
                      <m:d>
                        <m:dPr>
                          <m:ctrlPr>
                            <a:rPr lang="en-US" b="0" i="1" smtClean="0">
                              <a:latin typeface="Cambria Math" panose="02040503050406030204" pitchFamily="18" charset="0"/>
                              <a:cs typeface="Times New Roman" panose="02020603050405020304" pitchFamily="18" charset="0"/>
                            </a:rPr>
                          </m:ctrlPr>
                        </m:dPr>
                        <m:e>
                          <m:r>
                            <a:rPr lang="en-US" b="0" i="1" smtClean="0">
                              <a:latin typeface="Cambria Math" panose="02040503050406030204" pitchFamily="18" charset="0"/>
                              <a:cs typeface="Times New Roman" panose="02020603050405020304" pitchFamily="18" charset="0"/>
                            </a:rPr>
                            <m:t>𝑙𝑜𝑛𝑔𝑖𝑡𝑢𝑑𝑒</m:t>
                          </m:r>
                        </m:e>
                      </m:d>
                      <m:r>
                        <a:rPr lang="en-US" b="0" i="1" smtClean="0">
                          <a:latin typeface="Cambria Math" panose="02040503050406030204" pitchFamily="18" charset="0"/>
                          <a:cs typeface="Times New Roman" panose="02020603050405020304" pitchFamily="18" charset="0"/>
                        </a:rPr>
                        <m:t>+0.07</m:t>
                      </m:r>
                      <m:d>
                        <m:dPr>
                          <m:ctrlPr>
                            <a:rPr lang="en-US" b="0" i="1" smtClean="0">
                              <a:latin typeface="Cambria Math" panose="02040503050406030204" pitchFamily="18" charset="0"/>
                              <a:cs typeface="Times New Roman" panose="02020603050405020304" pitchFamily="18" charset="0"/>
                            </a:rPr>
                          </m:ctrlPr>
                        </m:dPr>
                        <m:e>
                          <m:r>
                            <a:rPr lang="en-US" b="0" i="1" smtClean="0">
                              <a:latin typeface="Cambria Math" panose="02040503050406030204" pitchFamily="18" charset="0"/>
                              <a:cs typeface="Times New Roman" panose="02020603050405020304" pitchFamily="18" charset="0"/>
                            </a:rPr>
                            <m:t>𝑑𝑎𝑦</m:t>
                          </m:r>
                        </m:e>
                      </m:d>
                      <m:r>
                        <a:rPr lang="en-US" b="0" i="1" smtClean="0">
                          <a:latin typeface="Cambria Math" panose="02040503050406030204" pitchFamily="18" charset="0"/>
                          <a:cs typeface="Times New Roman" panose="02020603050405020304" pitchFamily="18" charset="0"/>
                        </a:rPr>
                        <m:t>−0.3(</m:t>
                      </m:r>
                      <m:r>
                        <a:rPr lang="en-US" b="0" i="1" smtClean="0">
                          <a:latin typeface="Cambria Math" panose="02040503050406030204" pitchFamily="18" charset="0"/>
                          <a:cs typeface="Times New Roman" panose="02020603050405020304" pitchFamily="18" charset="0"/>
                        </a:rPr>
                        <m:t>𝑚𝑜𝑛𝑡h</m:t>
                      </m:r>
                      <m:r>
                        <a:rPr lang="en-US" b="0" i="1" smtClean="0">
                          <a:latin typeface="Cambria Math" panose="02040503050406030204" pitchFamily="18" charset="0"/>
                          <a:cs typeface="Times New Roman" panose="02020603050405020304" pitchFamily="18" charset="0"/>
                        </a:rPr>
                        <m:t>)</m:t>
                      </m:r>
                    </m:oMath>
                  </m:oMathPara>
                </a14:m>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Odds Ratio &gt; 1 → Increases fatal crash risk</a:t>
                </a:r>
              </a:p>
              <a:p>
                <a:r>
                  <a:rPr lang="en-US" dirty="0">
                    <a:latin typeface="Times New Roman" panose="02020603050405020304" pitchFamily="18" charset="0"/>
                    <a:cs typeface="Times New Roman" panose="02020603050405020304" pitchFamily="18" charset="0"/>
                  </a:rPr>
                  <a:t>Odds Ratio &lt; 1 → Decreases fatal crash risk</a:t>
                </a:r>
              </a:p>
              <a:p>
                <a:r>
                  <a:rPr lang="en-US" dirty="0">
                    <a:latin typeface="Times New Roman" panose="02020603050405020304" pitchFamily="18" charset="0"/>
                    <a:cs typeface="Times New Roman" panose="02020603050405020304" pitchFamily="18" charset="0"/>
                  </a:rPr>
                  <a:t>p-value &lt; 0.05 → Statistically significant effect</a:t>
                </a:r>
              </a:p>
            </p:txBody>
          </p:sp>
        </mc:Choice>
        <mc:Fallback xmlns="">
          <p:sp>
            <p:nvSpPr>
              <p:cNvPr id="3" name="TextBox 2">
                <a:extLst>
                  <a:ext uri="{FF2B5EF4-FFF2-40B4-BE49-F238E27FC236}">
                    <a16:creationId xmlns:a16="http://schemas.microsoft.com/office/drawing/2014/main" id="{8475046A-7754-EB9F-E079-B90025DF0338}"/>
                  </a:ext>
                </a:extLst>
              </p:cNvPr>
              <p:cNvSpPr txBox="1">
                <a:spLocks noRot="1" noChangeAspect="1" noMove="1" noResize="1" noEditPoints="1" noAdjustHandles="1" noChangeArrowheads="1" noChangeShapeType="1" noTextEdit="1"/>
              </p:cNvSpPr>
              <p:nvPr/>
            </p:nvSpPr>
            <p:spPr>
              <a:xfrm>
                <a:off x="147483" y="1229033"/>
                <a:ext cx="12044517" cy="5140318"/>
              </a:xfrm>
              <a:prstGeom prst="rect">
                <a:avLst/>
              </a:prstGeom>
              <a:blipFill>
                <a:blip r:embed="rId2"/>
                <a:stretch>
                  <a:fillRect l="-405" t="-712" r="-455" b="-949"/>
                </a:stretch>
              </a:blipFill>
            </p:spPr>
            <p:txBody>
              <a:bodyPr/>
              <a:lstStyle/>
              <a:p>
                <a:r>
                  <a:rPr lang="en-US">
                    <a:noFill/>
                  </a:rPr>
                  <a:t> </a:t>
                </a:r>
              </a:p>
            </p:txBody>
          </p:sp>
        </mc:Fallback>
      </mc:AlternateContent>
    </p:spTree>
    <p:extLst>
      <p:ext uri="{BB962C8B-B14F-4D97-AF65-F5344CB8AC3E}">
        <p14:creationId xmlns:p14="http://schemas.microsoft.com/office/powerpoint/2010/main" val="22451938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305C986-0DC0-1F53-4A6A-3B485D507430}"/>
              </a:ext>
            </a:extLst>
          </p:cNvPr>
          <p:cNvSpPr txBox="1"/>
          <p:nvPr/>
        </p:nvSpPr>
        <p:spPr>
          <a:xfrm>
            <a:off x="314325" y="190500"/>
            <a:ext cx="7791450" cy="461665"/>
          </a:xfrm>
          <a:prstGeom prst="rect">
            <a:avLst/>
          </a:prstGeom>
          <a:noFill/>
        </p:spPr>
        <p:txBody>
          <a:bodyPr wrap="square" rtlCol="0">
            <a:spAutoFit/>
          </a:bodyPr>
          <a:lstStyle/>
          <a:p>
            <a:r>
              <a:rPr lang="en-US" sz="2400" b="1" u="sng" dirty="0">
                <a:latin typeface="Times New Roman" panose="02020603050405020304" pitchFamily="18" charset="0"/>
                <a:cs typeface="Times New Roman" panose="02020603050405020304" pitchFamily="18" charset="0"/>
              </a:rPr>
              <a:t>Logistic Regression cont’d</a:t>
            </a:r>
          </a:p>
        </p:txBody>
      </p:sp>
      <p:graphicFrame>
        <p:nvGraphicFramePr>
          <p:cNvPr id="3" name="Table 2">
            <a:extLst>
              <a:ext uri="{FF2B5EF4-FFF2-40B4-BE49-F238E27FC236}">
                <a16:creationId xmlns:a16="http://schemas.microsoft.com/office/drawing/2014/main" id="{FC4BCDED-A1F3-8BED-7975-AF1962A05F8E}"/>
              </a:ext>
            </a:extLst>
          </p:cNvPr>
          <p:cNvGraphicFramePr>
            <a:graphicFrameLocks noGrp="1"/>
          </p:cNvGraphicFramePr>
          <p:nvPr>
            <p:extLst>
              <p:ext uri="{D42A27DB-BD31-4B8C-83A1-F6EECF244321}">
                <p14:modId xmlns:p14="http://schemas.microsoft.com/office/powerpoint/2010/main" val="1078300120"/>
              </p:ext>
            </p:extLst>
          </p:nvPr>
        </p:nvGraphicFramePr>
        <p:xfrm>
          <a:off x="171451" y="742950"/>
          <a:ext cx="11791950" cy="5827709"/>
        </p:xfrm>
        <a:graphic>
          <a:graphicData uri="http://schemas.openxmlformats.org/drawingml/2006/table">
            <a:tbl>
              <a:tblPr firstRow="1" firstCol="1" bandRow="1">
                <a:tableStyleId>{5C22544A-7EE6-4342-B048-85BDC9FD1C3A}</a:tableStyleId>
              </a:tblPr>
              <a:tblGrid>
                <a:gridCol w="1628232">
                  <a:extLst>
                    <a:ext uri="{9D8B030D-6E8A-4147-A177-3AD203B41FA5}">
                      <a16:colId xmlns:a16="http://schemas.microsoft.com/office/drawing/2014/main" val="2289409776"/>
                    </a:ext>
                  </a:extLst>
                </a:gridCol>
                <a:gridCol w="909518">
                  <a:extLst>
                    <a:ext uri="{9D8B030D-6E8A-4147-A177-3AD203B41FA5}">
                      <a16:colId xmlns:a16="http://schemas.microsoft.com/office/drawing/2014/main" val="3345508255"/>
                    </a:ext>
                  </a:extLst>
                </a:gridCol>
                <a:gridCol w="2015199">
                  <a:extLst>
                    <a:ext uri="{9D8B030D-6E8A-4147-A177-3AD203B41FA5}">
                      <a16:colId xmlns:a16="http://schemas.microsoft.com/office/drawing/2014/main" val="1277055341"/>
                    </a:ext>
                  </a:extLst>
                </a:gridCol>
                <a:gridCol w="1449879">
                  <a:extLst>
                    <a:ext uri="{9D8B030D-6E8A-4147-A177-3AD203B41FA5}">
                      <a16:colId xmlns:a16="http://schemas.microsoft.com/office/drawing/2014/main" val="3647641592"/>
                    </a:ext>
                  </a:extLst>
                </a:gridCol>
                <a:gridCol w="5789122">
                  <a:extLst>
                    <a:ext uri="{9D8B030D-6E8A-4147-A177-3AD203B41FA5}">
                      <a16:colId xmlns:a16="http://schemas.microsoft.com/office/drawing/2014/main" val="1473324322"/>
                    </a:ext>
                  </a:extLst>
                </a:gridCol>
              </a:tblGrid>
              <a:tr h="490842">
                <a:tc>
                  <a:txBody>
                    <a:bodyPr/>
                    <a:lstStyle/>
                    <a:p>
                      <a:pPr marL="0" marR="0" algn="just">
                        <a:lnSpc>
                          <a:spcPct val="115000"/>
                        </a:lnSpc>
                        <a:spcAft>
                          <a:spcPts val="800"/>
                        </a:spcAft>
                        <a:buNone/>
                      </a:pPr>
                      <a:r>
                        <a:rPr lang="en-US" sz="1400" kern="100" dirty="0">
                          <a:effectLst/>
                          <a:latin typeface="Times New Roman" panose="02020603050405020304" pitchFamily="18" charset="0"/>
                          <a:cs typeface="Times New Roman" panose="02020603050405020304" pitchFamily="18" charset="0"/>
                        </a:rPr>
                        <a:t>Variable</a:t>
                      </a:r>
                      <a:endParaRPr lang="en-US" sz="14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Odds Ratio (OR)</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95% Confidence Interval</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Significance</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Interpretation</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67939750"/>
                  </a:ext>
                </a:extLst>
              </a:tr>
              <a:tr h="1038765">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Pedestrian</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8.72</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[4.97, 15.32]</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Significant</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Crashes involving pedestrians have about 9 times higher odds of being fatal compared to crashes not involving pedestrians, holding other factors constant. This reflects high vulnerability due to lack of physical protection.</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6745538"/>
                  </a:ext>
                </a:extLst>
              </a:tr>
              <a:tr h="743325">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Motorcyclist</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dirty="0">
                          <a:effectLst/>
                          <a:latin typeface="Times New Roman" panose="02020603050405020304" pitchFamily="18" charset="0"/>
                          <a:cs typeface="Times New Roman" panose="02020603050405020304" pitchFamily="18" charset="0"/>
                        </a:rPr>
                        <a:t>4.00</a:t>
                      </a:r>
                      <a:endParaRPr lang="en-US" sz="14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[2.32, 6.90]</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dirty="0">
                          <a:effectLst/>
                          <a:latin typeface="Times New Roman" panose="02020603050405020304" pitchFamily="18" charset="0"/>
                          <a:cs typeface="Times New Roman" panose="02020603050405020304" pitchFamily="18" charset="0"/>
                        </a:rPr>
                        <a:t>Significant</a:t>
                      </a:r>
                      <a:endParaRPr lang="en-US" sz="14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dirty="0">
                          <a:effectLst/>
                          <a:latin typeface="Times New Roman" panose="02020603050405020304" pitchFamily="18" charset="0"/>
                          <a:cs typeface="Times New Roman" panose="02020603050405020304" pitchFamily="18" charset="0"/>
                        </a:rPr>
                        <a:t>Motorcyclist-involved crashes have approximately 4 times higher odds of fatality, indicating elevated risk associated with motorcycle use and limited protective barriers.</a:t>
                      </a:r>
                      <a:endParaRPr lang="en-US" sz="14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8828362"/>
                  </a:ext>
                </a:extLst>
              </a:tr>
              <a:tr h="891043">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Matatu</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0.99</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[0.55, 1.79]</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Not significant</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Although matatus are involved in many crashes, their involvement does not significantly affect the likelihood of a fatal outcome per crash, suggesting high crash frequency but lower severity.</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2041164"/>
                  </a:ext>
                </a:extLst>
              </a:tr>
              <a:tr h="595604">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Latitude</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0.62</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[0.20, 1.89]</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Not significant</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North–south location differences do not independently influence fatal crash risk after controlling for other factors.</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12364531"/>
                  </a:ext>
                </a:extLst>
              </a:tr>
              <a:tr h="490842">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Longitude</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0.50</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[0.20, 1.25]</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Not significant</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East–west spatial variation shows no statistically significant association with fatal crash occurrence.</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1507397"/>
                  </a:ext>
                </a:extLst>
              </a:tr>
              <a:tr h="490842">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Day of Week</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1.07</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[0.99, 1.17]</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Not significant</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The day of occurrence has no meaningful effect on the probability of a crash being fatal.</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58652925"/>
                  </a:ext>
                </a:extLst>
              </a:tr>
              <a:tr h="595604">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Month</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0.97</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[0.92, 1.02]</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Not significant</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Fatal crash risk does not vary significantly across months, suggesting limited seasonal effects in this dataset.</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1132830"/>
                  </a:ext>
                </a:extLst>
              </a:tr>
              <a:tr h="490842">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Constant</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4.7 × 10⁹</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Very wide CI</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a:effectLst/>
                          <a:latin typeface="Times New Roman" panose="02020603050405020304" pitchFamily="18" charset="0"/>
                          <a:cs typeface="Times New Roman" panose="02020603050405020304" pitchFamily="18" charset="0"/>
                        </a:rPr>
                        <a:t>Not interpreted</a:t>
                      </a:r>
                      <a:endParaRPr lang="en-US" sz="14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15000"/>
                        </a:lnSpc>
                        <a:spcAft>
                          <a:spcPts val="800"/>
                        </a:spcAft>
                        <a:buNone/>
                      </a:pPr>
                      <a:r>
                        <a:rPr lang="en-US" sz="1400" kern="100" dirty="0">
                          <a:effectLst/>
                          <a:latin typeface="Times New Roman" panose="02020603050405020304" pitchFamily="18" charset="0"/>
                          <a:cs typeface="Times New Roman" panose="02020603050405020304" pitchFamily="18" charset="0"/>
                        </a:rPr>
                        <a:t>The intercept represents baseline log-odds and has no direct practical interpretation in this context.</a:t>
                      </a:r>
                      <a:endParaRPr lang="en-US" sz="14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456" marR="4456" marT="4456" marB="445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116901"/>
                  </a:ext>
                </a:extLst>
              </a:tr>
            </a:tbl>
          </a:graphicData>
        </a:graphic>
      </p:graphicFrame>
    </p:spTree>
    <p:extLst>
      <p:ext uri="{BB962C8B-B14F-4D97-AF65-F5344CB8AC3E}">
        <p14:creationId xmlns:p14="http://schemas.microsoft.com/office/powerpoint/2010/main" val="12286075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9816A8-32B9-CB4E-AC67-4991FF914D08}"/>
              </a:ext>
            </a:extLst>
          </p:cNvPr>
          <p:cNvSpPr txBox="1"/>
          <p:nvPr/>
        </p:nvSpPr>
        <p:spPr>
          <a:xfrm>
            <a:off x="76199" y="190500"/>
            <a:ext cx="8562975" cy="830997"/>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Negative Binomial Regression Results and Discussion</a:t>
            </a:r>
          </a:p>
          <a:p>
            <a:endParaRPr lang="en-US" sz="2400" dirty="0">
              <a:latin typeface="Times New Roman" panose="02020603050405020304" pitchFamily="18" charset="0"/>
              <a:cs typeface="Times New Roman" panose="02020603050405020304" pitchFamily="18" charset="0"/>
            </a:endParaRPr>
          </a:p>
        </p:txBody>
      </p:sp>
      <p:graphicFrame>
        <p:nvGraphicFramePr>
          <p:cNvPr id="3" name="Table 2">
            <a:extLst>
              <a:ext uri="{FF2B5EF4-FFF2-40B4-BE49-F238E27FC236}">
                <a16:creationId xmlns:a16="http://schemas.microsoft.com/office/drawing/2014/main" id="{E010432A-E230-E12C-F54E-28B7773D3F5A}"/>
              </a:ext>
            </a:extLst>
          </p:cNvPr>
          <p:cNvGraphicFramePr>
            <a:graphicFrameLocks noGrp="1"/>
          </p:cNvGraphicFramePr>
          <p:nvPr>
            <p:extLst>
              <p:ext uri="{D42A27DB-BD31-4B8C-83A1-F6EECF244321}">
                <p14:modId xmlns:p14="http://schemas.microsoft.com/office/powerpoint/2010/main" val="3658700618"/>
              </p:ext>
            </p:extLst>
          </p:nvPr>
        </p:nvGraphicFramePr>
        <p:xfrm>
          <a:off x="390525" y="1021496"/>
          <a:ext cx="10429874" cy="5155157"/>
        </p:xfrm>
        <a:graphic>
          <a:graphicData uri="http://schemas.openxmlformats.org/drawingml/2006/table">
            <a:tbl>
              <a:tblPr firstRow="1" firstCol="1" bandRow="1">
                <a:tableStyleId>{5C22544A-7EE6-4342-B048-85BDC9FD1C3A}</a:tableStyleId>
              </a:tblPr>
              <a:tblGrid>
                <a:gridCol w="1536582">
                  <a:extLst>
                    <a:ext uri="{9D8B030D-6E8A-4147-A177-3AD203B41FA5}">
                      <a16:colId xmlns:a16="http://schemas.microsoft.com/office/drawing/2014/main" val="239807301"/>
                    </a:ext>
                  </a:extLst>
                </a:gridCol>
                <a:gridCol w="2194926">
                  <a:extLst>
                    <a:ext uri="{9D8B030D-6E8A-4147-A177-3AD203B41FA5}">
                      <a16:colId xmlns:a16="http://schemas.microsoft.com/office/drawing/2014/main" val="2606015122"/>
                    </a:ext>
                  </a:extLst>
                </a:gridCol>
                <a:gridCol w="1193621">
                  <a:extLst>
                    <a:ext uri="{9D8B030D-6E8A-4147-A177-3AD203B41FA5}">
                      <a16:colId xmlns:a16="http://schemas.microsoft.com/office/drawing/2014/main" val="3593587484"/>
                    </a:ext>
                  </a:extLst>
                </a:gridCol>
                <a:gridCol w="5504745">
                  <a:extLst>
                    <a:ext uri="{9D8B030D-6E8A-4147-A177-3AD203B41FA5}">
                      <a16:colId xmlns:a16="http://schemas.microsoft.com/office/drawing/2014/main" val="145933878"/>
                    </a:ext>
                  </a:extLst>
                </a:gridCol>
              </a:tblGrid>
              <a:tr h="353556">
                <a:tc>
                  <a:txBody>
                    <a:bodyPr/>
                    <a:lstStyle/>
                    <a:p>
                      <a:pPr marL="0" marR="0">
                        <a:lnSpc>
                          <a:spcPct val="115000"/>
                        </a:lnSpc>
                        <a:spcAft>
                          <a:spcPts val="800"/>
                        </a:spcAft>
                        <a:buNone/>
                      </a:pPr>
                      <a:r>
                        <a:rPr lang="en-US" sz="1800" kern="100" dirty="0">
                          <a:effectLst/>
                          <a:latin typeface="Times New Roman" panose="02020603050405020304" pitchFamily="18" charset="0"/>
                          <a:cs typeface="Times New Roman" panose="02020603050405020304" pitchFamily="18" charset="0"/>
                        </a:rPr>
                        <a:t>Variable</a:t>
                      </a: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Coefficient</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p-value</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Interpretation</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215146492"/>
                  </a:ext>
                </a:extLst>
              </a:tr>
              <a:tr h="353556">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Intercept (const)</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0.5461</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0.000 </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Baseline crash count when all predictors = 0.</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207286102"/>
                  </a:ext>
                </a:extLst>
              </a:tr>
              <a:tr h="1038740">
                <a:tc>
                  <a:txBody>
                    <a:bodyPr/>
                    <a:lstStyle/>
                    <a:p>
                      <a:pPr marL="0" marR="0">
                        <a:lnSpc>
                          <a:spcPct val="115000"/>
                        </a:lnSpc>
                        <a:spcAft>
                          <a:spcPts val="800"/>
                        </a:spcAft>
                        <a:buNone/>
                      </a:pPr>
                      <a:r>
                        <a:rPr lang="en-US" sz="1800" kern="100" dirty="0">
                          <a:effectLst/>
                          <a:latin typeface="Times New Roman" panose="02020603050405020304" pitchFamily="18" charset="0"/>
                          <a:cs typeface="Times New Roman" panose="02020603050405020304" pitchFamily="18" charset="0"/>
                        </a:rPr>
                        <a:t>Pedestrian</a:t>
                      </a: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0.3484</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0.026 </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Crashes mentioning pedestrians are associated with a 41.7% increase in crash counts. Significant</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913042194"/>
                  </a:ext>
                </a:extLst>
              </a:tr>
              <a:tr h="696148">
                <a:tc>
                  <a:txBody>
                    <a:bodyPr/>
                    <a:lstStyle/>
                    <a:p>
                      <a:pPr marL="0" marR="0">
                        <a:lnSpc>
                          <a:spcPct val="115000"/>
                        </a:lnSpc>
                        <a:spcAft>
                          <a:spcPts val="800"/>
                        </a:spcAft>
                        <a:buNone/>
                      </a:pPr>
                      <a:r>
                        <a:rPr lang="en-US" sz="1800" kern="100" dirty="0">
                          <a:effectLst/>
                          <a:latin typeface="Times New Roman" panose="02020603050405020304" pitchFamily="18" charset="0"/>
                          <a:cs typeface="Times New Roman" panose="02020603050405020304" pitchFamily="18" charset="0"/>
                        </a:rPr>
                        <a:t>Matatu </a:t>
                      </a: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0.5827</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0.000 </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dirty="0">
                          <a:effectLst/>
                          <a:latin typeface="Times New Roman" panose="02020603050405020304" pitchFamily="18" charset="0"/>
                          <a:cs typeface="Times New Roman" panose="02020603050405020304" pitchFamily="18" charset="0"/>
                        </a:rPr>
                        <a:t>Crashes involving matatus are associated with a 79% increase in crash counts. significant</a:t>
                      </a: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69065882"/>
                  </a:ext>
                </a:extLst>
              </a:tr>
              <a:tr h="696148">
                <a:tc>
                  <a:txBody>
                    <a:bodyPr/>
                    <a:lstStyle/>
                    <a:p>
                      <a:pPr marL="0" marR="0">
                        <a:lnSpc>
                          <a:spcPct val="115000"/>
                        </a:lnSpc>
                        <a:spcAft>
                          <a:spcPts val="800"/>
                        </a:spcAft>
                        <a:buNone/>
                      </a:pPr>
                      <a:r>
                        <a:rPr lang="en-US" sz="1800" kern="100" dirty="0">
                          <a:effectLst/>
                          <a:latin typeface="Times New Roman" panose="02020603050405020304" pitchFamily="18" charset="0"/>
                          <a:cs typeface="Times New Roman" panose="02020603050405020304" pitchFamily="18" charset="0"/>
                        </a:rPr>
                        <a:t>Motorcycle</a:t>
                      </a: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-0.0500</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0.713 </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No statistically meaningful effect.</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783023305"/>
                  </a:ext>
                </a:extLst>
              </a:tr>
              <a:tr h="696148">
                <a:tc>
                  <a:txBody>
                    <a:bodyPr/>
                    <a:lstStyle/>
                    <a:p>
                      <a:pPr marL="0" marR="0">
                        <a:lnSpc>
                          <a:spcPct val="115000"/>
                        </a:lnSpc>
                        <a:spcAft>
                          <a:spcPts val="800"/>
                        </a:spcAft>
                        <a:buNone/>
                      </a:pPr>
                      <a:r>
                        <a:rPr lang="en-US" sz="1800" kern="100" dirty="0">
                          <a:effectLst/>
                          <a:latin typeface="Times New Roman" panose="02020603050405020304" pitchFamily="18" charset="0"/>
                          <a:cs typeface="Times New Roman" panose="02020603050405020304" pitchFamily="18" charset="0"/>
                        </a:rPr>
                        <a:t>Hour</a:t>
                      </a: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-0.0145</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0.001 </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Every increase in hour (later in the day) slightly reduces crash counts by ~1.4%.</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19035658"/>
                  </a:ext>
                </a:extLst>
              </a:tr>
              <a:tr h="353556">
                <a:tc>
                  <a:txBody>
                    <a:bodyPr/>
                    <a:lstStyle/>
                    <a:p>
                      <a:pPr marL="0" marR="0">
                        <a:lnSpc>
                          <a:spcPct val="115000"/>
                        </a:lnSpc>
                        <a:spcAft>
                          <a:spcPts val="800"/>
                        </a:spcAft>
                        <a:buNone/>
                      </a:pPr>
                      <a:r>
                        <a:rPr lang="en-US" sz="1800" kern="100" dirty="0">
                          <a:effectLst/>
                          <a:latin typeface="Times New Roman" panose="02020603050405020304" pitchFamily="18" charset="0"/>
                          <a:cs typeface="Times New Roman" panose="02020603050405020304" pitchFamily="18" charset="0"/>
                        </a:rPr>
                        <a:t>Day of Week</a:t>
                      </a: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-0.0213</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0.110 </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Not statistically significant.</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134854780"/>
                  </a:ext>
                </a:extLst>
              </a:tr>
              <a:tr h="696148">
                <a:tc>
                  <a:txBody>
                    <a:bodyPr/>
                    <a:lstStyle/>
                    <a:p>
                      <a:pPr marL="0" marR="0">
                        <a:lnSpc>
                          <a:spcPct val="115000"/>
                        </a:lnSpc>
                        <a:spcAft>
                          <a:spcPts val="800"/>
                        </a:spcAft>
                        <a:buNone/>
                      </a:pPr>
                      <a:r>
                        <a:rPr lang="en-US" sz="1800" kern="100" dirty="0">
                          <a:effectLst/>
                          <a:latin typeface="Times New Roman" panose="02020603050405020304" pitchFamily="18" charset="0"/>
                          <a:cs typeface="Times New Roman" panose="02020603050405020304" pitchFamily="18" charset="0"/>
                        </a:rPr>
                        <a:t>Month</a:t>
                      </a: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dirty="0">
                          <a:effectLst/>
                          <a:latin typeface="Times New Roman" panose="02020603050405020304" pitchFamily="18" charset="0"/>
                          <a:cs typeface="Times New Roman" panose="02020603050405020304" pitchFamily="18" charset="0"/>
                        </a:rPr>
                        <a:t>0.0147</a:t>
                      </a: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a:effectLst/>
                          <a:latin typeface="Times New Roman" panose="02020603050405020304" pitchFamily="18" charset="0"/>
                          <a:cs typeface="Times New Roman" panose="02020603050405020304" pitchFamily="18" charset="0"/>
                        </a:rPr>
                        <a:t>0.064 </a:t>
                      </a:r>
                      <a:endParaRPr lang="en-US" sz="1800" kern="10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15000"/>
                        </a:lnSpc>
                        <a:spcAft>
                          <a:spcPts val="800"/>
                        </a:spcAft>
                        <a:buNone/>
                      </a:pPr>
                      <a:r>
                        <a:rPr lang="en-US" sz="1800" kern="100" dirty="0">
                          <a:effectLst/>
                          <a:latin typeface="Times New Roman" panose="02020603050405020304" pitchFamily="18" charset="0"/>
                          <a:cs typeface="Times New Roman" panose="02020603050405020304" pitchFamily="18" charset="0"/>
                        </a:rPr>
                        <a:t>Weak/ borderline effect; may show slight seasonality.</a:t>
                      </a:r>
                      <a:endParaRPr lang="en-US" sz="1800" kern="1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751122998"/>
                  </a:ext>
                </a:extLst>
              </a:tr>
            </a:tbl>
          </a:graphicData>
        </a:graphic>
      </p:graphicFrame>
    </p:spTree>
    <p:extLst>
      <p:ext uri="{BB962C8B-B14F-4D97-AF65-F5344CB8AC3E}">
        <p14:creationId xmlns:p14="http://schemas.microsoft.com/office/powerpoint/2010/main" val="41212033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ED14D-895A-F647-081A-1A665FEC991C}"/>
              </a:ext>
            </a:extLst>
          </p:cNvPr>
          <p:cNvSpPr>
            <a:spLocks noGrp="1"/>
          </p:cNvSpPr>
          <p:nvPr>
            <p:ph type="title"/>
          </p:nvPr>
        </p:nvSpPr>
        <p:spPr>
          <a:xfrm>
            <a:off x="657224" y="156633"/>
            <a:ext cx="9896475" cy="872067"/>
          </a:xfrm>
        </p:spPr>
        <p:txBody>
          <a:bodyPr>
            <a:normAutofit/>
          </a:bodyPr>
          <a:lstStyle/>
          <a:p>
            <a:r>
              <a:rPr lang="en-US" sz="4900" dirty="0">
                <a:latin typeface="Times New Roman" panose="02020603050405020304" pitchFamily="18" charset="0"/>
                <a:cs typeface="Times New Roman" panose="02020603050405020304" pitchFamily="18" charset="0"/>
              </a:rPr>
              <a:t>Discussion of Findings</a:t>
            </a:r>
          </a:p>
        </p:txBody>
      </p:sp>
      <p:sp>
        <p:nvSpPr>
          <p:cNvPr id="3" name="TextBox 2">
            <a:extLst>
              <a:ext uri="{FF2B5EF4-FFF2-40B4-BE49-F238E27FC236}">
                <a16:creationId xmlns:a16="http://schemas.microsoft.com/office/drawing/2014/main" id="{ADD1B4F9-25DF-979C-A623-0916B30F23D1}"/>
              </a:ext>
            </a:extLst>
          </p:cNvPr>
          <p:cNvSpPr txBox="1"/>
          <p:nvPr/>
        </p:nvSpPr>
        <p:spPr>
          <a:xfrm>
            <a:off x="552450" y="1006881"/>
            <a:ext cx="10201275" cy="5170646"/>
          </a:xfrm>
          <a:prstGeom prst="rect">
            <a:avLst/>
          </a:prstGeom>
          <a:noFill/>
        </p:spPr>
        <p:txBody>
          <a:bodyPr wrap="square" rtlCol="0">
            <a:spAutoFit/>
          </a:bodyPr>
          <a:lstStyle/>
          <a:p>
            <a:pPr marL="342900" indent="-34290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Overall Crash Patterns:</a:t>
            </a:r>
            <a:r>
              <a:rPr lang="en-US" sz="2200" dirty="0">
                <a:latin typeface="Times New Roman" panose="02020603050405020304" pitchFamily="18" charset="0"/>
                <a:cs typeface="Times New Roman" panose="02020603050405020304" pitchFamily="18" charset="0"/>
              </a:rPr>
              <a:t> Most road crashes in Kenya are non‑fatal, but fatal crashes remain a serious public safety concern.</a:t>
            </a:r>
          </a:p>
          <a:p>
            <a:pPr marL="342900" indent="-34290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Temporal Patterns:</a:t>
            </a:r>
            <a:r>
              <a:rPr lang="en-US" sz="2200" dirty="0">
                <a:latin typeface="Times New Roman" panose="02020603050405020304" pitchFamily="18" charset="0"/>
                <a:cs typeface="Times New Roman" panose="02020603050405020304" pitchFamily="18" charset="0"/>
              </a:rPr>
              <a:t> Crashes peak during morning and evening rush hours, reflecting high traffic congestion and risky driving periods.</a:t>
            </a:r>
          </a:p>
          <a:p>
            <a:pPr marL="342900" indent="-34290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Severity &amp; Vulnerable Road Users:</a:t>
            </a:r>
            <a:r>
              <a:rPr lang="en-US" sz="2200" dirty="0">
                <a:latin typeface="Times New Roman" panose="02020603050405020304" pitchFamily="18" charset="0"/>
                <a:cs typeface="Times New Roman" panose="02020603050405020304" pitchFamily="18" charset="0"/>
              </a:rPr>
              <a:t> Pedestrians and motorcyclists face a much higher risk of fatal injury compared to other road users.</a:t>
            </a:r>
          </a:p>
          <a:p>
            <a:pPr marL="342900" indent="-34290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Spatial Distribution:</a:t>
            </a:r>
            <a:r>
              <a:rPr lang="en-US" sz="2200" dirty="0">
                <a:latin typeface="Times New Roman" panose="02020603050405020304" pitchFamily="18" charset="0"/>
                <a:cs typeface="Times New Roman" panose="02020603050405020304" pitchFamily="18" charset="0"/>
              </a:rPr>
              <a:t> Crash hotspots are concentrated in urban areas and along major highways with heavy traffic flow.</a:t>
            </a:r>
          </a:p>
          <a:p>
            <a:pPr marL="342900" indent="-34290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Correlation Analysis:</a:t>
            </a:r>
            <a:r>
              <a:rPr lang="en-US" sz="2200" dirty="0">
                <a:latin typeface="Times New Roman" panose="02020603050405020304" pitchFamily="18" charset="0"/>
                <a:cs typeface="Times New Roman" panose="02020603050405020304" pitchFamily="18" charset="0"/>
              </a:rPr>
              <a:t> Crash characteristics show weak relationships, indicating fatalities result from multiple interacting factors rather than one cause.</a:t>
            </a:r>
          </a:p>
          <a:p>
            <a:pPr marL="342900" indent="-34290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Logistic Regression Findings:</a:t>
            </a:r>
            <a:r>
              <a:rPr lang="en-US" sz="2200" dirty="0">
                <a:latin typeface="Times New Roman" panose="02020603050405020304" pitchFamily="18" charset="0"/>
                <a:cs typeface="Times New Roman" panose="02020603050405020304" pitchFamily="18" charset="0"/>
              </a:rPr>
              <a:t> Road user type—especially pedestrians and motorcyclists—is the strongest predictor of fatal crash outcomes.</a:t>
            </a:r>
          </a:p>
          <a:p>
            <a:pPr marL="342900" indent="-342900">
              <a:buFont typeface="Arial" panose="020B0604020202020204" pitchFamily="34" charset="0"/>
              <a:buChar char="•"/>
            </a:pPr>
            <a:r>
              <a:rPr lang="en-US" sz="2200" b="1" dirty="0">
                <a:latin typeface="Times New Roman" panose="02020603050405020304" pitchFamily="18" charset="0"/>
                <a:cs typeface="Times New Roman" panose="02020603050405020304" pitchFamily="18" charset="0"/>
              </a:rPr>
              <a:t>Negative Binomial Findings:</a:t>
            </a:r>
            <a:r>
              <a:rPr lang="en-US" sz="2200" dirty="0">
                <a:latin typeface="Times New Roman" panose="02020603050405020304" pitchFamily="18" charset="0"/>
                <a:cs typeface="Times New Roman" panose="02020603050405020304" pitchFamily="18" charset="0"/>
              </a:rPr>
              <a:t> Pedestrian and matatu involvement significantly increases crash counts, and the NB model provides more reliable estimates by accounting for overdispersion.</a:t>
            </a:r>
          </a:p>
        </p:txBody>
      </p:sp>
    </p:spTree>
    <p:extLst>
      <p:ext uri="{BB962C8B-B14F-4D97-AF65-F5344CB8AC3E}">
        <p14:creationId xmlns:p14="http://schemas.microsoft.com/office/powerpoint/2010/main" val="29549030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2366C-C504-1F19-EF12-67DD3489FD47}"/>
              </a:ext>
            </a:extLst>
          </p:cNvPr>
          <p:cNvSpPr>
            <a:spLocks noGrp="1"/>
          </p:cNvSpPr>
          <p:nvPr>
            <p:ph type="title"/>
          </p:nvPr>
        </p:nvSpPr>
        <p:spPr/>
        <p:txBody>
          <a:bodyPr/>
          <a:lstStyle/>
          <a:p>
            <a:r>
              <a:rPr lang="en-US" dirty="0"/>
              <a:t>Limitations of the study</a:t>
            </a:r>
          </a:p>
        </p:txBody>
      </p:sp>
      <p:sp>
        <p:nvSpPr>
          <p:cNvPr id="6" name="TextBox 5">
            <a:extLst>
              <a:ext uri="{FF2B5EF4-FFF2-40B4-BE49-F238E27FC236}">
                <a16:creationId xmlns:a16="http://schemas.microsoft.com/office/drawing/2014/main" id="{47555AC4-290F-1EAB-D846-2D6D08EE0C0A}"/>
              </a:ext>
            </a:extLst>
          </p:cNvPr>
          <p:cNvSpPr txBox="1"/>
          <p:nvPr/>
        </p:nvSpPr>
        <p:spPr>
          <a:xfrm>
            <a:off x="1838633" y="3195484"/>
            <a:ext cx="8170606" cy="2153264"/>
          </a:xfrm>
          <a:prstGeom prst="rect">
            <a:avLst/>
          </a:prstGeom>
          <a:noFill/>
        </p:spPr>
        <p:txBody>
          <a:bodyPr wrap="square" rtlCol="0">
            <a:spAutoFit/>
          </a:bodyPr>
          <a:lstStyle/>
          <a:p>
            <a:endParaRPr lang="en-US" dirty="0"/>
          </a:p>
        </p:txBody>
      </p:sp>
      <p:sp>
        <p:nvSpPr>
          <p:cNvPr id="7" name="Rectangle 1">
            <a:extLst>
              <a:ext uri="{FF2B5EF4-FFF2-40B4-BE49-F238E27FC236}">
                <a16:creationId xmlns:a16="http://schemas.microsoft.com/office/drawing/2014/main" id="{2B867EA6-2D3F-579A-9E8E-29B49F68B7E4}"/>
              </a:ext>
            </a:extLst>
          </p:cNvPr>
          <p:cNvSpPr>
            <a:spLocks noChangeArrowheads="1"/>
          </p:cNvSpPr>
          <p:nvPr/>
        </p:nvSpPr>
        <p:spPr bwMode="auto">
          <a:xfrm>
            <a:off x="553984" y="1804220"/>
            <a:ext cx="10979253" cy="3586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Relies on secondary, crowdsourced Ma3Route data → possible underreporting and reporting bias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Lacks official police/hospital records → fatalities and injuries not medically verified</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Accident locations based on user-reported coordinates → possible location inaccuracies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Excludes road infrastructure factors (road condition, lighting, signage, traffic volume)</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Limited to the dataset time period → may not reflect long-term accident trends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Does not account for driver behavior (speeding, alcohol use, driver experience)</a:t>
            </a:r>
          </a:p>
        </p:txBody>
      </p:sp>
    </p:spTree>
    <p:extLst>
      <p:ext uri="{BB962C8B-B14F-4D97-AF65-F5344CB8AC3E}">
        <p14:creationId xmlns:p14="http://schemas.microsoft.com/office/powerpoint/2010/main" val="41446179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45E14-3DF3-7864-EA8E-162DD279E860}"/>
              </a:ext>
            </a:extLst>
          </p:cNvPr>
          <p:cNvSpPr>
            <a:spLocks noGrp="1"/>
          </p:cNvSpPr>
          <p:nvPr>
            <p:ph type="title"/>
          </p:nvPr>
        </p:nvSpPr>
        <p:spPr>
          <a:xfrm>
            <a:off x="676656" y="109008"/>
            <a:ext cx="9515476" cy="891117"/>
          </a:xfrm>
        </p:spPr>
        <p:txBody>
          <a:bodyPr/>
          <a:lstStyle/>
          <a:p>
            <a:r>
              <a:rPr lang="en-US" dirty="0">
                <a:latin typeface="Times New Roman" panose="02020603050405020304" pitchFamily="18" charset="0"/>
                <a:cs typeface="Times New Roman" panose="02020603050405020304" pitchFamily="18" charset="0"/>
              </a:rPr>
              <a:t>Conclusions</a:t>
            </a:r>
            <a:endParaRPr lang="en-US" dirty="0"/>
          </a:p>
        </p:txBody>
      </p:sp>
      <p:sp>
        <p:nvSpPr>
          <p:cNvPr id="3" name="Content Placeholder 2">
            <a:extLst>
              <a:ext uri="{FF2B5EF4-FFF2-40B4-BE49-F238E27FC236}">
                <a16:creationId xmlns:a16="http://schemas.microsoft.com/office/drawing/2014/main" id="{A79EC351-50D0-2CB8-FF36-5E30CCED129B}"/>
              </a:ext>
            </a:extLst>
          </p:cNvPr>
          <p:cNvSpPr>
            <a:spLocks noGrp="1"/>
          </p:cNvSpPr>
          <p:nvPr>
            <p:ph idx="1"/>
          </p:nvPr>
        </p:nvSpPr>
        <p:spPr>
          <a:xfrm>
            <a:off x="676656" y="1162051"/>
            <a:ext cx="10753725" cy="4953000"/>
          </a:xfrm>
        </p:spPr>
        <p:txBody>
          <a:bodyPr>
            <a:normAutofit/>
          </a:bodyPr>
          <a:lstStyle/>
          <a:p>
            <a:pPr>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Road traffic crashes in Kenya show clear spatial and temporal patterns, with higher concentrations in urban areas and major highways</a:t>
            </a:r>
          </a:p>
          <a:p>
            <a:pPr>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Matatus are involved in the highest number of crashes, but most are non‑fatal</a:t>
            </a:r>
          </a:p>
          <a:p>
            <a:pPr>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Pedestrians and motorcyclists face the highest risk of fatal outcomes, highlighting their vulnerability</a:t>
            </a:r>
          </a:p>
          <a:p>
            <a:pPr>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Crash severity is driven more by road user type than by time or location</a:t>
            </a:r>
          </a:p>
          <a:p>
            <a:pPr>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Spatial hotspot analysis is effective for identifying priority areas for intervention</a:t>
            </a:r>
          </a:p>
          <a:p>
            <a:pPr>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The Negative Binomial model provided more reliable estimates by accounting for overdispersion</a:t>
            </a:r>
          </a:p>
          <a:p>
            <a:pPr>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Improving safety for vulnerable road users is key to reducing road traffic fatalities in Kenya</a:t>
            </a:r>
          </a:p>
        </p:txBody>
      </p:sp>
    </p:spTree>
    <p:extLst>
      <p:ext uri="{BB962C8B-B14F-4D97-AF65-F5344CB8AC3E}">
        <p14:creationId xmlns:p14="http://schemas.microsoft.com/office/powerpoint/2010/main" val="36726394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4D29FE-E32D-D4A1-D3CD-1688D2B14923}"/>
              </a:ext>
            </a:extLst>
          </p:cNvPr>
          <p:cNvSpPr>
            <a:spLocks noGrp="1"/>
          </p:cNvSpPr>
          <p:nvPr>
            <p:ph type="title"/>
          </p:nvPr>
        </p:nvSpPr>
        <p:spPr>
          <a:xfrm>
            <a:off x="657224" y="499533"/>
            <a:ext cx="9048751" cy="652992"/>
          </a:xfrm>
        </p:spPr>
        <p:txBody>
          <a:bodyPr>
            <a:normAutofit fontScale="90000"/>
          </a:bodyPr>
          <a:lstStyle/>
          <a:p>
            <a:r>
              <a:rPr lang="en-US" dirty="0">
                <a:latin typeface="Times New Roman" panose="02020603050405020304" pitchFamily="18" charset="0"/>
                <a:cs typeface="Times New Roman" panose="02020603050405020304" pitchFamily="18" charset="0"/>
              </a:rPr>
              <a:t>Recommendations</a:t>
            </a:r>
            <a:endParaRPr lang="en-US" dirty="0"/>
          </a:p>
        </p:txBody>
      </p:sp>
      <p:sp>
        <p:nvSpPr>
          <p:cNvPr id="3" name="Content Placeholder 2">
            <a:extLst>
              <a:ext uri="{FF2B5EF4-FFF2-40B4-BE49-F238E27FC236}">
                <a16:creationId xmlns:a16="http://schemas.microsoft.com/office/drawing/2014/main" id="{DB025459-A0BE-CC35-B131-4FF6A2730798}"/>
              </a:ext>
            </a:extLst>
          </p:cNvPr>
          <p:cNvSpPr>
            <a:spLocks noGrp="1"/>
          </p:cNvSpPr>
          <p:nvPr>
            <p:ph idx="1"/>
          </p:nvPr>
        </p:nvSpPr>
        <p:spPr>
          <a:xfrm>
            <a:off x="657224" y="1468755"/>
            <a:ext cx="11096244" cy="4617720"/>
          </a:xfrm>
        </p:spPr>
        <p:txBody>
          <a:bodyPr>
            <a:normAutofit/>
          </a:bodyPr>
          <a:lstStyle/>
          <a:p>
            <a:pPr>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Improve pedestrian infrastructure in high‑risk urban areas and highways</a:t>
            </a:r>
          </a:p>
          <a:p>
            <a:pPr>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Strengthen motorcycle safety through helmet enforcement, training, and visibility measures</a:t>
            </a:r>
          </a:p>
          <a:p>
            <a:pPr>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Implement targeted interventions in identified crash hotspots</a:t>
            </a:r>
          </a:p>
          <a:p>
            <a:pPr>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Enhance traffic law enforcement on speed, alcohol use, and vehicle safety</a:t>
            </a:r>
          </a:p>
          <a:p>
            <a:pPr>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Strengthen regulation and oversight of public transport (matatus)</a:t>
            </a:r>
          </a:p>
          <a:p>
            <a:pPr>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Improve crash data collection and geo‑referenced reporting</a:t>
            </a:r>
          </a:p>
          <a:p>
            <a:pPr>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Align road safety planning with high‑risk times (peak hours and seasons)</a:t>
            </a:r>
          </a:p>
          <a:p>
            <a:pPr>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Expand public awareness campaigns focused on vulnerable road users</a:t>
            </a:r>
          </a:p>
          <a:p>
            <a:pPr>
              <a:buFont typeface="Arial" panose="020B0604020202020204" pitchFamily="34" charset="0"/>
              <a:buChar char="•"/>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99146420"/>
      </p:ext>
    </p:extLst>
  </p:cSld>
  <p:clrMapOvr>
    <a:masterClrMapping/>
  </p:clrMapOvr>
</p:sld>
</file>

<file path=ppt/theme/theme1.xml><?xml version="1.0" encoding="utf-8"?>
<a:theme xmlns:a="http://schemas.openxmlformats.org/drawingml/2006/main" name="Metropolitan">
  <a:themeElements>
    <a:clrScheme name="Metropolitan">
      <a:dk1>
        <a:sysClr val="windowText" lastClr="000000"/>
      </a:dk1>
      <a:lt1>
        <a:sysClr val="window" lastClr="FFFFFF"/>
      </a:lt1>
      <a:dk2>
        <a:srgbClr val="162F33"/>
      </a:dk2>
      <a:lt2>
        <a:srgbClr val="EAF0E0"/>
      </a:lt2>
      <a:accent1>
        <a:srgbClr val="50B4C8"/>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TM03457491[[fn=Metropolitan]]</Template>
  <TotalTime>893</TotalTime>
  <Words>2072</Words>
  <Application>Microsoft Office PowerPoint</Application>
  <PresentationFormat>Widescreen</PresentationFormat>
  <Paragraphs>253</Paragraphs>
  <Slides>23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Calibri Light</vt:lpstr>
      <vt:lpstr>Cambria Math</vt:lpstr>
      <vt:lpstr>Times New Roman</vt:lpstr>
      <vt:lpstr>Metropolitan</vt:lpstr>
      <vt:lpstr>Spatio-Temporal Analysis of Road Traffic Crashes in Kenya: Evidence from Geo-Referenced Accident Reports (2017-2018)</vt:lpstr>
      <vt:lpstr>Table of Contents</vt:lpstr>
      <vt:lpstr>Background of the Study </vt:lpstr>
      <vt:lpstr>Problem Statement</vt:lpstr>
      <vt:lpstr>Objectives of the Study</vt:lpstr>
      <vt:lpstr>Data and Study Area</vt:lpstr>
      <vt:lpstr>Methodology</vt:lpstr>
      <vt:lpstr>Descriptive Results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Discussion of Findings</vt:lpstr>
      <vt:lpstr>Limitations of the study</vt:lpstr>
      <vt:lpstr>Conclusions</vt:lpstr>
      <vt:lpstr>Recommendations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Summer Kendy</dc:creator>
  <cp:lastModifiedBy>Summer Kendy</cp:lastModifiedBy>
  <cp:revision>6</cp:revision>
  <dcterms:created xsi:type="dcterms:W3CDTF">2025-12-22T19:30:36Z</dcterms:created>
  <dcterms:modified xsi:type="dcterms:W3CDTF">2026-02-05T09:48:38Z</dcterms:modified>
</cp:coreProperties>
</file>